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69" r:id="rId3"/>
    <p:sldId id="274" r:id="rId4"/>
    <p:sldId id="257" r:id="rId5"/>
    <p:sldId id="260" r:id="rId6"/>
    <p:sldId id="267" r:id="rId7"/>
    <p:sldId id="273" r:id="rId8"/>
    <p:sldId id="275" r:id="rId9"/>
    <p:sldId id="268" r:id="rId10"/>
    <p:sldId id="276" r:id="rId11"/>
    <p:sldId id="277" r:id="rId12"/>
    <p:sldId id="280" r:id="rId13"/>
    <p:sldId id="263" r:id="rId14"/>
    <p:sldId id="278" r:id="rId15"/>
    <p:sldId id="270" r:id="rId16"/>
    <p:sldId id="271" r:id="rId17"/>
    <p:sldId id="272" r:id="rId18"/>
  </p:sldIdLst>
  <p:sldSz cx="18288000" cy="10287000"/>
  <p:notesSz cx="6858000" cy="9144000"/>
  <p:embeddedFontLst>
    <p:embeddedFont>
      <p:font typeface="Canva Sans" panose="020B0604020202020204" charset="0"/>
      <p:regular r:id="rId20"/>
    </p:embeddedFont>
    <p:embeddedFont>
      <p:font typeface="Canva Sans Bold" panose="020B0604020202020204" charset="0"/>
      <p:regular r:id="rId21"/>
    </p:embeddedFont>
    <p:embeddedFont>
      <p:font typeface="Canva Sans Italics"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2" d="100"/>
          <a:sy n="52" d="100"/>
        </p:scale>
        <p:origin x="85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F94E1-0E02-DE8C-2CE8-943B10CCD93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1C7622-5197-4A65-727A-5648CF021BB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98D4C4E-9649-CF20-BC5E-7B89EC4FC0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BAB24F4-3406-5494-DC54-56D8CFD0826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FB4EE9E-8799-1B4C-4462-32C78A18B90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EC364B3-8A55-9B6D-95E2-6E693795209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F6D69E9-12B2-4895-0B18-9719524C803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69367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90903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96134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33EE7-43D5-9D02-BE30-0245FCA4F4E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D4FCEA-8FAC-76C4-D9FF-CBC82DCFE40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F17796-B969-3D6D-B22B-9D463AC9EB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E2E9AE3-07E9-BBF0-6747-8337D20DEE6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296C074-1415-CDAA-0BC5-B0BBDBD6C44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537A67A-A61F-A739-4794-64793909E0F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277BDC3-787E-CEF9-555D-451735CF759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30800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0229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C10A0-D5DE-29A4-0AC8-5E0C64EDD3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76DD23-763A-F6F3-C873-9C7CA632256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7FB1676-28E5-09EA-E98F-D8FD15723E3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EDBC3D-0B39-65D9-E5DD-AD09608553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BEFE1E8-9B06-1914-7852-37CC2A94D0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CD4A9FC1-79EE-668E-11D0-A1C57CFFD33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86A4EAC-30C9-7F7F-B174-DB7AF30D92B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70175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89055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60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0986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016" y="131164"/>
            <a:ext cx="2402777" cy="2736896"/>
          </a:xfrm>
          <a:custGeom>
            <a:avLst/>
            <a:gdLst/>
            <a:ahLst/>
            <a:cxnLst/>
            <a:rect l="l" t="t" r="r" b="b"/>
            <a:pathLst>
              <a:path w="2402777" h="2736896">
                <a:moveTo>
                  <a:pt x="0" y="0"/>
                </a:moveTo>
                <a:lnTo>
                  <a:pt x="2402778" y="0"/>
                </a:lnTo>
                <a:lnTo>
                  <a:pt x="2402778" y="2736896"/>
                </a:lnTo>
                <a:lnTo>
                  <a:pt x="0" y="2736896"/>
                </a:lnTo>
                <a:lnTo>
                  <a:pt x="0" y="0"/>
                </a:lnTo>
                <a:close/>
              </a:path>
            </a:pathLst>
          </a:custGeom>
          <a:blipFill>
            <a:blip r:embed="rId2"/>
            <a:stretch>
              <a:fillRect t="-8850" r="-298827" b="-5527"/>
            </a:stretch>
          </a:blipFill>
        </p:spPr>
      </p:sp>
      <p:sp>
        <p:nvSpPr>
          <p:cNvPr id="3" name="Freeform 3"/>
          <p:cNvSpPr/>
          <p:nvPr/>
        </p:nvSpPr>
        <p:spPr>
          <a:xfrm>
            <a:off x="15044715" y="0"/>
            <a:ext cx="3095269" cy="3006105"/>
          </a:xfrm>
          <a:custGeom>
            <a:avLst/>
            <a:gdLst/>
            <a:ahLst/>
            <a:cxnLst/>
            <a:rect l="l" t="t" r="r" b="b"/>
            <a:pathLst>
              <a:path w="3095269" h="3006105">
                <a:moveTo>
                  <a:pt x="0" y="0"/>
                </a:moveTo>
                <a:lnTo>
                  <a:pt x="3095269" y="0"/>
                </a:lnTo>
                <a:lnTo>
                  <a:pt x="3095269" y="3006105"/>
                </a:lnTo>
                <a:lnTo>
                  <a:pt x="0" y="3006105"/>
                </a:lnTo>
                <a:lnTo>
                  <a:pt x="0" y="0"/>
                </a:lnTo>
                <a:close/>
              </a:path>
            </a:pathLst>
          </a:custGeom>
          <a:blipFill>
            <a:blip r:embed="rId3"/>
            <a:stretch>
              <a:fillRect/>
            </a:stretch>
          </a:blipFill>
        </p:spPr>
      </p:sp>
      <p:sp>
        <p:nvSpPr>
          <p:cNvPr id="6" name="TextBox 6"/>
          <p:cNvSpPr txBox="1"/>
          <p:nvPr/>
        </p:nvSpPr>
        <p:spPr>
          <a:xfrm>
            <a:off x="2733818" y="544097"/>
            <a:ext cx="11850146" cy="2500108"/>
          </a:xfrm>
          <a:prstGeom prst="rect">
            <a:avLst/>
          </a:prstGeom>
        </p:spPr>
        <p:txBody>
          <a:bodyPr lIns="0" tIns="0" rIns="0" bIns="0" rtlCol="0" anchor="t">
            <a:spAutoFit/>
          </a:bodyPr>
          <a:lstStyle/>
          <a:p>
            <a:pPr algn="ctr">
              <a:lnSpc>
                <a:spcPts val="4450"/>
              </a:lnSpc>
            </a:pPr>
            <a:r>
              <a:rPr lang="en-US" sz="3371" b="1" dirty="0">
                <a:solidFill>
                  <a:srgbClr val="3C5D72"/>
                </a:solidFill>
                <a:latin typeface="Canva Sans Bold"/>
                <a:ea typeface="Canva Sans Bold"/>
                <a:cs typeface="Canva Sans Bold"/>
                <a:sym typeface="Canva Sans Bold"/>
              </a:rPr>
              <a:t>Department of Computer Engineering</a:t>
            </a:r>
          </a:p>
          <a:p>
            <a:pPr algn="ctr">
              <a:lnSpc>
                <a:spcPts val="4450"/>
              </a:lnSpc>
            </a:pPr>
            <a:r>
              <a:rPr lang="en-US" sz="3371" b="1" dirty="0">
                <a:solidFill>
                  <a:srgbClr val="3C5D72"/>
                </a:solidFill>
                <a:latin typeface="Canva Sans Bold"/>
                <a:ea typeface="Canva Sans Bold"/>
                <a:cs typeface="Canva Sans Bold"/>
                <a:sym typeface="Canva Sans Bold"/>
              </a:rPr>
              <a:t>DJSCE</a:t>
            </a:r>
          </a:p>
          <a:p>
            <a:pPr algn="ctr">
              <a:lnSpc>
                <a:spcPts val="4450"/>
              </a:lnSpc>
            </a:pPr>
            <a:r>
              <a:rPr lang="en-US" sz="3371" b="1" dirty="0">
                <a:solidFill>
                  <a:srgbClr val="3C5D72"/>
                </a:solidFill>
                <a:latin typeface="Canva Sans Bold"/>
                <a:ea typeface="Canva Sans Bold"/>
                <a:cs typeface="Canva Sans Bold"/>
                <a:sym typeface="Canva Sans Bold"/>
              </a:rPr>
              <a:t>Mumbai University</a:t>
            </a:r>
          </a:p>
          <a:p>
            <a:pPr algn="ctr">
              <a:lnSpc>
                <a:spcPts val="3682"/>
              </a:lnSpc>
            </a:pPr>
            <a:r>
              <a:rPr lang="en-US" sz="2790" b="1" dirty="0">
                <a:solidFill>
                  <a:srgbClr val="3C5D72"/>
                </a:solidFill>
                <a:latin typeface="Canva Sans Bold"/>
                <a:ea typeface="Canva Sans Bold"/>
                <a:cs typeface="Canva Sans Bold"/>
                <a:sym typeface="Canva Sans Bold"/>
              </a:rPr>
              <a:t>2025-26</a:t>
            </a:r>
          </a:p>
          <a:p>
            <a:pPr algn="ctr">
              <a:lnSpc>
                <a:spcPts val="2148"/>
              </a:lnSpc>
            </a:pPr>
            <a:endParaRPr lang="en-US" sz="2790" b="1" dirty="0">
              <a:solidFill>
                <a:srgbClr val="3C5D72"/>
              </a:solidFill>
              <a:latin typeface="Canva Sans Bold"/>
              <a:ea typeface="Canva Sans Bold"/>
              <a:cs typeface="Canva Sans Bold"/>
              <a:sym typeface="Canva Sans Bold"/>
            </a:endParaRPr>
          </a:p>
        </p:txBody>
      </p:sp>
      <p:grpSp>
        <p:nvGrpSpPr>
          <p:cNvPr id="7" name="Group 7"/>
          <p:cNvGrpSpPr/>
          <p:nvPr/>
        </p:nvGrpSpPr>
        <p:grpSpPr>
          <a:xfrm>
            <a:off x="1046117" y="6461877"/>
            <a:ext cx="16130953" cy="1047481"/>
            <a:chOff x="0" y="38100"/>
            <a:chExt cx="21507937" cy="1396642"/>
          </a:xfrm>
        </p:grpSpPr>
        <p:sp>
          <p:nvSpPr>
            <p:cNvPr id="8" name="TextBox 8"/>
            <p:cNvSpPr txBox="1"/>
            <p:nvPr/>
          </p:nvSpPr>
          <p:spPr>
            <a:xfrm>
              <a:off x="0" y="66675"/>
              <a:ext cx="4786151" cy="1368067"/>
            </a:xfrm>
            <a:prstGeom prst="rect">
              <a:avLst/>
            </a:prstGeom>
          </p:spPr>
          <p:txBody>
            <a:bodyPr lIns="0" tIns="0" rIns="0" bIns="0" rtlCol="0" anchor="t">
              <a:spAutoFit/>
            </a:bodyPr>
            <a:lstStyle/>
            <a:p>
              <a:pPr algn="ctr">
                <a:lnSpc>
                  <a:spcPts val="4147"/>
                </a:lnSpc>
              </a:pPr>
              <a:r>
                <a:rPr lang="en-US" sz="3200" b="1" dirty="0">
                  <a:solidFill>
                    <a:srgbClr val="3D5D71"/>
                  </a:solidFill>
                  <a:latin typeface="Canva Sans Bold"/>
                  <a:ea typeface="Canva Sans Bold"/>
                  <a:cs typeface="Canva Sans Bold"/>
                  <a:sym typeface="Canva Sans Bold"/>
                </a:rPr>
                <a:t>Viraj </a:t>
              </a:r>
              <a:r>
                <a:rPr lang="en-US" sz="3200" dirty="0">
                  <a:solidFill>
                    <a:srgbClr val="3D5D71"/>
                  </a:solidFill>
                  <a:latin typeface="Canva Sans Bold"/>
                  <a:ea typeface="Canva Sans Bold"/>
                  <a:cs typeface="Canva Sans Bold"/>
                  <a:sym typeface="Canva Sans Bold"/>
                </a:rPr>
                <a:t>Sanghavi</a:t>
              </a:r>
            </a:p>
            <a:p>
              <a:pPr algn="ctr">
                <a:lnSpc>
                  <a:spcPts val="4147"/>
                </a:lnSpc>
              </a:pPr>
              <a:r>
                <a:rPr lang="en-US" sz="3200" b="1" dirty="0">
                  <a:solidFill>
                    <a:srgbClr val="3D5D71"/>
                  </a:solidFill>
                  <a:latin typeface="Canva Sans Bold"/>
                  <a:ea typeface="Canva Sans Bold"/>
                  <a:cs typeface="Canva Sans Bold"/>
                  <a:sym typeface="Canva Sans Bold"/>
                </a:rPr>
                <a:t>60004240123</a:t>
              </a:r>
            </a:p>
          </p:txBody>
        </p:sp>
        <p:sp>
          <p:nvSpPr>
            <p:cNvPr id="9" name="TextBox 9"/>
            <p:cNvSpPr txBox="1"/>
            <p:nvPr/>
          </p:nvSpPr>
          <p:spPr>
            <a:xfrm>
              <a:off x="16721786" y="38100"/>
              <a:ext cx="4786151" cy="598455"/>
            </a:xfrm>
            <a:prstGeom prst="rect">
              <a:avLst/>
            </a:prstGeom>
          </p:spPr>
          <p:txBody>
            <a:bodyPr lIns="0" tIns="0" rIns="0" bIns="0" rtlCol="0" anchor="t">
              <a:spAutoFit/>
            </a:bodyPr>
            <a:lstStyle/>
            <a:p>
              <a:pPr algn="ctr">
                <a:lnSpc>
                  <a:spcPts val="3456"/>
                </a:lnSpc>
              </a:pPr>
              <a:endParaRPr lang="en-US" sz="3200" b="1" dirty="0">
                <a:solidFill>
                  <a:srgbClr val="3D5D71"/>
                </a:solidFill>
                <a:latin typeface="Canva Sans Bold"/>
                <a:ea typeface="Canva Sans Bold"/>
                <a:cs typeface="Canva Sans Bold"/>
                <a:sym typeface="Canva Sans Bold"/>
              </a:endParaRPr>
            </a:p>
          </p:txBody>
        </p:sp>
        <p:sp>
          <p:nvSpPr>
            <p:cNvPr id="10" name="TextBox 10"/>
            <p:cNvSpPr txBox="1"/>
            <p:nvPr/>
          </p:nvSpPr>
          <p:spPr>
            <a:xfrm>
              <a:off x="5662451" y="104775"/>
              <a:ext cx="5392161" cy="632652"/>
            </a:xfrm>
            <a:prstGeom prst="rect">
              <a:avLst/>
            </a:prstGeom>
          </p:spPr>
          <p:txBody>
            <a:bodyPr lIns="0" tIns="0" rIns="0" bIns="0" rtlCol="0" anchor="t">
              <a:spAutoFit/>
            </a:bodyPr>
            <a:lstStyle/>
            <a:p>
              <a:pPr algn="ctr">
                <a:lnSpc>
                  <a:spcPts val="3686"/>
                </a:lnSpc>
              </a:pPr>
              <a:endParaRPr lang="en-US" sz="3200" b="1" dirty="0">
                <a:solidFill>
                  <a:srgbClr val="3D5D71"/>
                </a:solidFill>
                <a:latin typeface="Canva Sans Bold"/>
                <a:ea typeface="Canva Sans Bold"/>
                <a:cs typeface="Canva Sans Bold"/>
                <a:sym typeface="Canva Sans Bold"/>
              </a:endParaRPr>
            </a:p>
          </p:txBody>
        </p:sp>
        <p:sp>
          <p:nvSpPr>
            <p:cNvPr id="11" name="TextBox 11"/>
            <p:cNvSpPr txBox="1"/>
            <p:nvPr/>
          </p:nvSpPr>
          <p:spPr>
            <a:xfrm>
              <a:off x="11054612" y="66675"/>
              <a:ext cx="4786151" cy="538780"/>
            </a:xfrm>
            <a:prstGeom prst="rect">
              <a:avLst/>
            </a:prstGeom>
          </p:spPr>
          <p:txBody>
            <a:bodyPr lIns="0" tIns="0" rIns="0" bIns="0" rtlCol="0" anchor="t">
              <a:spAutoFit/>
            </a:bodyPr>
            <a:lstStyle/>
            <a:p>
              <a:pPr algn="ctr">
                <a:lnSpc>
                  <a:spcPts val="3110"/>
                </a:lnSpc>
              </a:pPr>
              <a:endParaRPr lang="en-US" sz="3200" b="1" dirty="0">
                <a:solidFill>
                  <a:srgbClr val="3D5D71"/>
                </a:solidFill>
                <a:latin typeface="Canva Sans Bold"/>
                <a:ea typeface="Canva Sans Bold"/>
                <a:cs typeface="Canva Sans Bold"/>
                <a:sym typeface="Canva Sans Bold"/>
              </a:endParaRPr>
            </a:p>
          </p:txBody>
        </p:sp>
      </p:grpSp>
      <p:sp>
        <p:nvSpPr>
          <p:cNvPr id="12" name="TextBox 8"/>
          <p:cNvSpPr txBox="1"/>
          <p:nvPr/>
        </p:nvSpPr>
        <p:spPr>
          <a:xfrm>
            <a:off x="4963385" y="6563285"/>
            <a:ext cx="3589613" cy="801630"/>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Archit Prabhu</a:t>
            </a:r>
          </a:p>
          <a:p>
            <a:pPr algn="ctr">
              <a:lnSpc>
                <a:spcPts val="3110"/>
              </a:lnSpc>
            </a:pPr>
            <a:r>
              <a:rPr lang="en-US" sz="3200" b="1" dirty="0">
                <a:solidFill>
                  <a:srgbClr val="3D5D71"/>
                </a:solidFill>
                <a:latin typeface="Canva Sans Bold"/>
                <a:ea typeface="Canva Sans Bold"/>
                <a:cs typeface="Canva Sans Bold"/>
                <a:sym typeface="Canva Sans Bold"/>
              </a:rPr>
              <a:t>60004240228</a:t>
            </a:r>
          </a:p>
        </p:txBody>
      </p:sp>
      <p:sp>
        <p:nvSpPr>
          <p:cNvPr id="13" name="TextBox 8"/>
          <p:cNvSpPr txBox="1"/>
          <p:nvPr/>
        </p:nvSpPr>
        <p:spPr>
          <a:xfrm>
            <a:off x="8658891" y="6582287"/>
            <a:ext cx="3589613" cy="891216"/>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Arya Thakkar </a:t>
            </a:r>
          </a:p>
          <a:p>
            <a:pPr algn="ctr">
              <a:lnSpc>
                <a:spcPts val="4147"/>
              </a:lnSpc>
            </a:pPr>
            <a:r>
              <a:rPr lang="en-US" sz="3200" b="1" dirty="0">
                <a:solidFill>
                  <a:srgbClr val="3D5D71"/>
                </a:solidFill>
                <a:latin typeface="Canva Sans Bold"/>
                <a:ea typeface="Canva Sans Bold"/>
                <a:cs typeface="Canva Sans Bold"/>
                <a:sym typeface="Canva Sans Bold"/>
              </a:rPr>
              <a:t>60004240241</a:t>
            </a:r>
          </a:p>
        </p:txBody>
      </p:sp>
      <p:sp>
        <p:nvSpPr>
          <p:cNvPr id="14" name="TextBox 8"/>
          <p:cNvSpPr txBox="1"/>
          <p:nvPr/>
        </p:nvSpPr>
        <p:spPr>
          <a:xfrm>
            <a:off x="12909272" y="6560478"/>
            <a:ext cx="3589613" cy="891216"/>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Raj </a:t>
            </a:r>
            <a:r>
              <a:rPr lang="en-US" sz="3200" b="1" dirty="0" err="1">
                <a:solidFill>
                  <a:srgbClr val="3D5D71"/>
                </a:solidFill>
                <a:latin typeface="Canva Sans Bold"/>
                <a:ea typeface="Canva Sans Bold"/>
                <a:cs typeface="Canva Sans Bold"/>
                <a:sym typeface="Canva Sans Bold"/>
              </a:rPr>
              <a:t>Kunjadiya</a:t>
            </a:r>
            <a:endParaRPr lang="en-US" sz="3200" b="1" dirty="0">
              <a:solidFill>
                <a:srgbClr val="3D5D71"/>
              </a:solidFill>
              <a:latin typeface="Canva Sans Bold"/>
              <a:ea typeface="Canva Sans Bold"/>
              <a:cs typeface="Canva Sans Bold"/>
              <a:sym typeface="Canva Sans Bold"/>
            </a:endParaRPr>
          </a:p>
          <a:p>
            <a:pPr algn="ctr">
              <a:lnSpc>
                <a:spcPts val="4147"/>
              </a:lnSpc>
            </a:pPr>
            <a:r>
              <a:rPr lang="en-US" sz="3200" b="1" dirty="0">
                <a:solidFill>
                  <a:srgbClr val="3D5D71"/>
                </a:solidFill>
                <a:latin typeface="Canva Sans Bold"/>
                <a:ea typeface="Canva Sans Bold"/>
                <a:cs typeface="Canva Sans Bold"/>
                <a:sym typeface="Canva Sans Bold"/>
              </a:rPr>
              <a:t>60004240138</a:t>
            </a:r>
          </a:p>
        </p:txBody>
      </p:sp>
      <p:sp>
        <p:nvSpPr>
          <p:cNvPr id="15" name="TextBox 5"/>
          <p:cNvSpPr txBox="1"/>
          <p:nvPr/>
        </p:nvSpPr>
        <p:spPr>
          <a:xfrm>
            <a:off x="5562600" y="8248288"/>
            <a:ext cx="6826161" cy="1744067"/>
          </a:xfrm>
          <a:prstGeom prst="rect">
            <a:avLst/>
          </a:prstGeom>
        </p:spPr>
        <p:txBody>
          <a:bodyPr lIns="0" tIns="0" rIns="0" bIns="0" rtlCol="0" anchor="t">
            <a:spAutoFit/>
          </a:bodyPr>
          <a:lstStyle/>
          <a:p>
            <a:pPr algn="ctr">
              <a:lnSpc>
                <a:spcPts val="2520"/>
              </a:lnSpc>
            </a:pPr>
            <a:r>
              <a:rPr lang="en-US" sz="2100" i="1" dirty="0">
                <a:solidFill>
                  <a:srgbClr val="3D5D71"/>
                </a:solidFill>
                <a:latin typeface="Canva Sans Italics"/>
                <a:ea typeface="Canva Sans Italics"/>
                <a:cs typeface="Canva Sans Italics"/>
                <a:sym typeface="Canva Sans Italics"/>
              </a:rPr>
              <a:t>Under the guidance of</a:t>
            </a:r>
          </a:p>
          <a:p>
            <a:pPr algn="ctr">
              <a:lnSpc>
                <a:spcPts val="4320"/>
              </a:lnSpc>
            </a:pPr>
            <a:r>
              <a:rPr lang="en-US" sz="3600" b="1" dirty="0">
                <a:solidFill>
                  <a:srgbClr val="3D5D71"/>
                </a:solidFill>
                <a:latin typeface="Canva Sans Bold"/>
                <a:ea typeface="Canva Sans Bold"/>
                <a:cs typeface="Canva Sans Bold"/>
                <a:sym typeface="Canva Sans Bold"/>
              </a:rPr>
              <a:t>Dr. </a:t>
            </a:r>
            <a:r>
              <a:rPr lang="en-US" sz="3600" b="1" dirty="0" err="1">
                <a:solidFill>
                  <a:srgbClr val="3D5D71"/>
                </a:solidFill>
                <a:latin typeface="Canva Sans Bold"/>
                <a:ea typeface="Canva Sans Bold"/>
                <a:cs typeface="Canva Sans Bold"/>
                <a:sym typeface="Canva Sans Bold"/>
              </a:rPr>
              <a:t>Chetashri</a:t>
            </a:r>
            <a:r>
              <a:rPr lang="en-US" sz="3600" b="1" dirty="0">
                <a:solidFill>
                  <a:srgbClr val="3D5D71"/>
                </a:solidFill>
                <a:latin typeface="Canva Sans Bold"/>
                <a:ea typeface="Canva Sans Bold"/>
                <a:cs typeface="Canva Sans Bold"/>
                <a:sym typeface="Canva Sans Bold"/>
              </a:rPr>
              <a:t> </a:t>
            </a:r>
            <a:r>
              <a:rPr lang="en-US" sz="3600" b="1" dirty="0" err="1">
                <a:solidFill>
                  <a:srgbClr val="3D5D71"/>
                </a:solidFill>
                <a:latin typeface="Canva Sans Bold"/>
                <a:ea typeface="Canva Sans Bold"/>
                <a:cs typeface="Canva Sans Bold"/>
                <a:sym typeface="Canva Sans Bold"/>
              </a:rPr>
              <a:t>Bhadane</a:t>
            </a:r>
            <a:r>
              <a:rPr lang="en-US" sz="3600" b="1" dirty="0">
                <a:solidFill>
                  <a:srgbClr val="3D5D71"/>
                </a:solidFill>
                <a:latin typeface="Canva Sans Bold"/>
                <a:ea typeface="Canva Sans Bold"/>
                <a:cs typeface="Canva Sans Bold"/>
                <a:sym typeface="Canva Sans Bold"/>
              </a:rPr>
              <a:t> (Comps)</a:t>
            </a:r>
          </a:p>
          <a:p>
            <a:pPr algn="ctr">
              <a:lnSpc>
                <a:spcPts val="2520"/>
              </a:lnSpc>
            </a:pPr>
            <a:r>
              <a:rPr lang="en-US" sz="2100" dirty="0">
                <a:solidFill>
                  <a:srgbClr val="3D5D71"/>
                </a:solidFill>
                <a:latin typeface="Canva Sans"/>
                <a:ea typeface="Canva Sans"/>
                <a:cs typeface="Canva Sans"/>
                <a:sym typeface="Canva Sans"/>
              </a:rPr>
              <a:t>Project Guide</a:t>
            </a:r>
          </a:p>
        </p:txBody>
      </p:sp>
      <p:grpSp>
        <p:nvGrpSpPr>
          <p:cNvPr id="16" name="Group 7"/>
          <p:cNvGrpSpPr/>
          <p:nvPr/>
        </p:nvGrpSpPr>
        <p:grpSpPr>
          <a:xfrm>
            <a:off x="1046117" y="4562276"/>
            <a:ext cx="16130953" cy="524495"/>
            <a:chOff x="0" y="38100"/>
            <a:chExt cx="21507937" cy="699327"/>
          </a:xfrm>
        </p:grpSpPr>
        <p:sp>
          <p:nvSpPr>
            <p:cNvPr id="17" name="TextBox 8"/>
            <p:cNvSpPr txBox="1"/>
            <p:nvPr/>
          </p:nvSpPr>
          <p:spPr>
            <a:xfrm>
              <a:off x="0" y="66675"/>
              <a:ext cx="20042777" cy="535276"/>
            </a:xfrm>
            <a:prstGeom prst="rect">
              <a:avLst/>
            </a:prstGeom>
          </p:spPr>
          <p:txBody>
            <a:bodyPr wrap="square" lIns="0" tIns="0" rIns="0" bIns="0" rtlCol="0" anchor="t">
              <a:spAutoFit/>
            </a:bodyPr>
            <a:lstStyle/>
            <a:p>
              <a:pPr algn="ctr">
                <a:lnSpc>
                  <a:spcPts val="3110"/>
                </a:lnSpc>
              </a:pPr>
              <a:r>
                <a:rPr lang="en-US" sz="3200" dirty="0">
                  <a:solidFill>
                    <a:srgbClr val="124E73"/>
                  </a:solidFill>
                  <a:latin typeface="Canva Sans Bold" panose="020B0604020202020204" charset="0"/>
                  <a:ea typeface="MuseoModerno Medium" pitchFamily="34" charset="-122"/>
                  <a:cs typeface="MuseoModerno Medium" pitchFamily="34" charset="-120"/>
                </a:rPr>
                <a:t>ADAPT‑</a:t>
              </a:r>
              <a:r>
                <a:rPr lang="en-US" sz="3200" dirty="0" err="1">
                  <a:solidFill>
                    <a:srgbClr val="124E73"/>
                  </a:solidFill>
                  <a:latin typeface="Canva Sans Bold" panose="020B0604020202020204" charset="0"/>
                  <a:ea typeface="MuseoModerno Medium" pitchFamily="34" charset="-122"/>
                  <a:cs typeface="MuseoModerno Medium" pitchFamily="34" charset="-120"/>
                </a:rPr>
                <a:t>Synthetix</a:t>
              </a:r>
              <a:r>
                <a:rPr lang="en-US" sz="3200" b="1" dirty="0">
                  <a:solidFill>
                    <a:srgbClr val="3D5D71"/>
                  </a:solidFill>
                  <a:latin typeface="Canva Sans Bold" panose="020B0604020202020204" charset="0"/>
                  <a:ea typeface="Canva Sans Bold"/>
                  <a:cs typeface="Canva Sans Bold"/>
                  <a:sym typeface="Canva Sans Bold"/>
                </a:rPr>
                <a:t> </a:t>
              </a:r>
            </a:p>
          </p:txBody>
        </p:sp>
        <p:sp>
          <p:nvSpPr>
            <p:cNvPr id="18" name="TextBox 9"/>
            <p:cNvSpPr txBox="1"/>
            <p:nvPr/>
          </p:nvSpPr>
          <p:spPr>
            <a:xfrm>
              <a:off x="16721786" y="38100"/>
              <a:ext cx="4786151" cy="598455"/>
            </a:xfrm>
            <a:prstGeom prst="rect">
              <a:avLst/>
            </a:prstGeom>
          </p:spPr>
          <p:txBody>
            <a:bodyPr lIns="0" tIns="0" rIns="0" bIns="0" rtlCol="0" anchor="t">
              <a:spAutoFit/>
            </a:bodyPr>
            <a:lstStyle/>
            <a:p>
              <a:pPr algn="ctr">
                <a:lnSpc>
                  <a:spcPts val="3456"/>
                </a:lnSpc>
              </a:pPr>
              <a:endParaRPr lang="en-US" sz="3200" b="1" dirty="0">
                <a:solidFill>
                  <a:srgbClr val="3D5D71"/>
                </a:solidFill>
                <a:latin typeface="Canva Sans Bold"/>
                <a:ea typeface="Canva Sans Bold"/>
                <a:cs typeface="Canva Sans Bold"/>
                <a:sym typeface="Canva Sans Bold"/>
              </a:endParaRPr>
            </a:p>
          </p:txBody>
        </p:sp>
        <p:sp>
          <p:nvSpPr>
            <p:cNvPr id="19" name="TextBox 10"/>
            <p:cNvSpPr txBox="1"/>
            <p:nvPr/>
          </p:nvSpPr>
          <p:spPr>
            <a:xfrm>
              <a:off x="5662451" y="104775"/>
              <a:ext cx="5392161" cy="632652"/>
            </a:xfrm>
            <a:prstGeom prst="rect">
              <a:avLst/>
            </a:prstGeom>
          </p:spPr>
          <p:txBody>
            <a:bodyPr lIns="0" tIns="0" rIns="0" bIns="0" rtlCol="0" anchor="t">
              <a:spAutoFit/>
            </a:bodyPr>
            <a:lstStyle/>
            <a:p>
              <a:pPr algn="ctr">
                <a:lnSpc>
                  <a:spcPts val="3686"/>
                </a:lnSpc>
              </a:pPr>
              <a:endParaRPr lang="en-US" sz="3200" b="1" dirty="0">
                <a:solidFill>
                  <a:srgbClr val="3D5D71"/>
                </a:solidFill>
                <a:latin typeface="Canva Sans Bold"/>
                <a:ea typeface="Canva Sans Bold"/>
                <a:cs typeface="Canva Sans Bold"/>
                <a:sym typeface="Canva Sans Bold"/>
              </a:endParaRPr>
            </a:p>
          </p:txBody>
        </p:sp>
        <p:sp>
          <p:nvSpPr>
            <p:cNvPr id="20" name="TextBox 11"/>
            <p:cNvSpPr txBox="1"/>
            <p:nvPr/>
          </p:nvSpPr>
          <p:spPr>
            <a:xfrm>
              <a:off x="11054612" y="66675"/>
              <a:ext cx="4786151" cy="538780"/>
            </a:xfrm>
            <a:prstGeom prst="rect">
              <a:avLst/>
            </a:prstGeom>
          </p:spPr>
          <p:txBody>
            <a:bodyPr lIns="0" tIns="0" rIns="0" bIns="0" rtlCol="0" anchor="t">
              <a:spAutoFit/>
            </a:bodyPr>
            <a:lstStyle/>
            <a:p>
              <a:pPr algn="ctr">
                <a:lnSpc>
                  <a:spcPts val="3110"/>
                </a:lnSpc>
              </a:pPr>
              <a:endParaRPr lang="en-US" sz="3200" b="1" dirty="0">
                <a:solidFill>
                  <a:srgbClr val="3D5D71"/>
                </a:solidFill>
                <a:latin typeface="Canva Sans Bold"/>
                <a:ea typeface="Canva Sans Bold"/>
                <a:cs typeface="Canva Sans Bold"/>
                <a:sym typeface="Canva Sans 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6535400" cy="1143000"/>
          </a:xfrm>
        </p:spPr>
        <p:txBody>
          <a:bodyPr/>
          <a:lstStyle/>
          <a:p>
            <a:r>
              <a:rPr lang="en-US" dirty="0"/>
              <a:t>AGENDA</a:t>
            </a:r>
            <a:endParaRPr lang="en-IN" dirty="0"/>
          </a:p>
        </p:txBody>
      </p:sp>
      <p:sp>
        <p:nvSpPr>
          <p:cNvPr id="3" name="Content Placeholder 2"/>
          <p:cNvSpPr>
            <a:spLocks noGrp="1"/>
          </p:cNvSpPr>
          <p:nvPr>
            <p:ph idx="1"/>
          </p:nvPr>
        </p:nvSpPr>
        <p:spPr>
          <a:xfrm>
            <a:off x="457200" y="1600200"/>
            <a:ext cx="16764000" cy="8115300"/>
          </a:xfrm>
        </p:spPr>
        <p:txBody>
          <a:bodyPr>
            <a:normAutofit fontScale="92500" lnSpcReduction="20000"/>
          </a:bodyPr>
          <a:lstStyle/>
          <a:p>
            <a:pPr marL="742950" indent="-742950">
              <a:buFont typeface="+mj-lt"/>
              <a:buAutoNum type="arabicPeriod"/>
            </a:pPr>
            <a:r>
              <a:rPr lang="en-US" sz="4400" dirty="0"/>
              <a:t>Introduction</a:t>
            </a:r>
          </a:p>
          <a:p>
            <a:pPr marL="742950" indent="-742950">
              <a:buFont typeface="+mj-lt"/>
              <a:buAutoNum type="arabicPeriod"/>
            </a:pPr>
            <a:r>
              <a:rPr lang="en-US" sz="4400" dirty="0"/>
              <a:t>Need of the System</a:t>
            </a:r>
          </a:p>
          <a:p>
            <a:pPr marL="742950" indent="-742950">
              <a:buFont typeface="+mj-lt"/>
              <a:buAutoNum type="arabicPeriod"/>
            </a:pPr>
            <a:r>
              <a:rPr lang="en-US" sz="4400" dirty="0"/>
              <a:t>Existing Solutions</a:t>
            </a:r>
          </a:p>
          <a:p>
            <a:pPr marL="742950" indent="-742950">
              <a:buFont typeface="+mj-lt"/>
              <a:buAutoNum type="arabicPeriod"/>
            </a:pPr>
            <a:r>
              <a:rPr lang="en-US" sz="4400" dirty="0"/>
              <a:t>Literature Survey</a:t>
            </a:r>
          </a:p>
          <a:p>
            <a:pPr marL="742950" indent="-742950">
              <a:buFont typeface="+mj-lt"/>
              <a:buAutoNum type="arabicPeriod"/>
            </a:pPr>
            <a:r>
              <a:rPr lang="en-US" sz="4400" dirty="0"/>
              <a:t>Gaps identified </a:t>
            </a:r>
          </a:p>
          <a:p>
            <a:pPr marL="742950" indent="-742950">
              <a:buFont typeface="+mj-lt"/>
              <a:buAutoNum type="arabicPeriod"/>
            </a:pPr>
            <a:r>
              <a:rPr lang="en-US" sz="4400" dirty="0"/>
              <a:t>Problem Statement</a:t>
            </a:r>
          </a:p>
          <a:p>
            <a:pPr marL="742950" indent="-742950">
              <a:buFont typeface="+mj-lt"/>
              <a:buAutoNum type="arabicPeriod"/>
            </a:pPr>
            <a:r>
              <a:rPr lang="en-US" sz="4400" dirty="0"/>
              <a:t>Proposed Solution</a:t>
            </a:r>
            <a:endParaRPr lang="en-IN" sz="4400" dirty="0"/>
          </a:p>
          <a:p>
            <a:pPr marL="742950" indent="-742950">
              <a:buFont typeface="+mj-lt"/>
              <a:buAutoNum type="arabicPeriod"/>
            </a:pPr>
            <a:r>
              <a:rPr lang="en-US" sz="4400" dirty="0"/>
              <a:t>Flow of system</a:t>
            </a:r>
          </a:p>
          <a:p>
            <a:pPr marL="742950" indent="-742950">
              <a:buFont typeface="+mj-lt"/>
              <a:buAutoNum type="arabicPeriod"/>
            </a:pPr>
            <a:r>
              <a:rPr lang="en-US" sz="4400" dirty="0"/>
              <a:t>Statistics</a:t>
            </a:r>
          </a:p>
          <a:p>
            <a:pPr marL="742950" indent="-742950">
              <a:buFont typeface="+mj-lt"/>
              <a:buAutoNum type="arabicPeriod"/>
            </a:pPr>
            <a:r>
              <a:rPr lang="en-US" sz="4400" dirty="0"/>
              <a:t>Data sources </a:t>
            </a:r>
          </a:p>
          <a:p>
            <a:pPr marL="742950" indent="-742950">
              <a:buFont typeface="+mj-lt"/>
              <a:buAutoNum type="arabicPeriod"/>
            </a:pPr>
            <a:r>
              <a:rPr lang="en-US" sz="4400" dirty="0"/>
              <a:t>Frontend Example</a:t>
            </a:r>
          </a:p>
          <a:p>
            <a:pPr marL="742950" indent="-742950">
              <a:buFont typeface="+mj-lt"/>
              <a:buAutoNum type="arabicPeriod"/>
            </a:pPr>
            <a:r>
              <a:rPr lang="en-US" sz="4400" dirty="0"/>
              <a:t>References </a:t>
            </a:r>
          </a:p>
          <a:p>
            <a:pPr marL="742950" indent="-742950">
              <a:buFont typeface="+mj-lt"/>
              <a:buAutoNum type="arabicPeriod"/>
            </a:pPr>
            <a:r>
              <a:rPr lang="en-US" sz="4400" dirty="0"/>
              <a:t>Conclusion </a:t>
            </a:r>
            <a:endParaRPr lang="en-IN" sz="4400" dirty="0"/>
          </a:p>
        </p:txBody>
      </p:sp>
    </p:spTree>
    <p:extLst>
      <p:ext uri="{BB962C8B-B14F-4D97-AF65-F5344CB8AC3E}">
        <p14:creationId xmlns:p14="http://schemas.microsoft.com/office/powerpoint/2010/main" val="2650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3248-A0D2-F498-C042-16A2E3315B60}"/>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EEAAFB0-BD4B-6CE5-33E6-59211CC6804A}"/>
              </a:ext>
            </a:extLst>
          </p:cNvPr>
          <p:cNvGrpSpPr/>
          <p:nvPr/>
        </p:nvGrpSpPr>
        <p:grpSpPr>
          <a:xfrm>
            <a:off x="-19050" y="-19050"/>
            <a:ext cx="18287998" cy="865389"/>
            <a:chOff x="0" y="0"/>
            <a:chExt cx="24383998" cy="1153852"/>
          </a:xfrm>
        </p:grpSpPr>
        <p:sp>
          <p:nvSpPr>
            <p:cNvPr id="8" name="Freeform 8">
              <a:extLst>
                <a:ext uri="{FF2B5EF4-FFF2-40B4-BE49-F238E27FC236}">
                  <a16:creationId xmlns:a16="http://schemas.microsoft.com/office/drawing/2014/main" id="{207B7F2D-121C-197A-270F-6655E77EB742}"/>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a:extLst>
                <a:ext uri="{FF2B5EF4-FFF2-40B4-BE49-F238E27FC236}">
                  <a16:creationId xmlns:a16="http://schemas.microsoft.com/office/drawing/2014/main" id="{ACC5875A-13CC-5FD6-3B89-9B5CF776F46F}"/>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a:extLst>
              <a:ext uri="{FF2B5EF4-FFF2-40B4-BE49-F238E27FC236}">
                <a16:creationId xmlns:a16="http://schemas.microsoft.com/office/drawing/2014/main" id="{C81E825F-4F12-9187-55CC-1DF34426DD32}"/>
              </a:ext>
            </a:extLst>
          </p:cNvPr>
          <p:cNvGrpSpPr/>
          <p:nvPr/>
        </p:nvGrpSpPr>
        <p:grpSpPr>
          <a:xfrm>
            <a:off x="-19051" y="704100"/>
            <a:ext cx="18496775" cy="904653"/>
            <a:chOff x="0" y="0"/>
            <a:chExt cx="24662367" cy="1206204"/>
          </a:xfrm>
        </p:grpSpPr>
        <p:sp>
          <p:nvSpPr>
            <p:cNvPr id="12" name="Freeform 12">
              <a:extLst>
                <a:ext uri="{FF2B5EF4-FFF2-40B4-BE49-F238E27FC236}">
                  <a16:creationId xmlns:a16="http://schemas.microsoft.com/office/drawing/2014/main" id="{7001EA2B-135E-3018-1645-377B9EF1AB60}"/>
                </a:ext>
              </a:extLst>
            </p:cNvPr>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a:extLst>
                <a:ext uri="{FF2B5EF4-FFF2-40B4-BE49-F238E27FC236}">
                  <a16:creationId xmlns:a16="http://schemas.microsoft.com/office/drawing/2014/main" id="{37ED337D-9458-E6F0-31A0-2C60FAB74D08}"/>
                </a:ext>
              </a:extLst>
            </p:cNvPr>
            <p:cNvSpPr txBox="1"/>
            <p:nvPr/>
          </p:nvSpPr>
          <p:spPr>
            <a:xfrm>
              <a:off x="278367" y="47561"/>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Introduction</a:t>
              </a:r>
            </a:p>
          </p:txBody>
        </p:sp>
      </p:grpSp>
      <p:sp>
        <p:nvSpPr>
          <p:cNvPr id="15" name="Freeform 15">
            <a:extLst>
              <a:ext uri="{FF2B5EF4-FFF2-40B4-BE49-F238E27FC236}">
                <a16:creationId xmlns:a16="http://schemas.microsoft.com/office/drawing/2014/main" id="{C490B0C1-2F64-7411-860F-2A1EF73FD709}"/>
              </a:ext>
            </a:extLst>
          </p:cNvPr>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4" name="TextBox 3">
            <a:extLst>
              <a:ext uri="{FF2B5EF4-FFF2-40B4-BE49-F238E27FC236}">
                <a16:creationId xmlns:a16="http://schemas.microsoft.com/office/drawing/2014/main" id="{7934761F-8B7E-C0E7-C73B-152DB9769BD6}"/>
              </a:ext>
            </a:extLst>
          </p:cNvPr>
          <p:cNvSpPr txBox="1"/>
          <p:nvPr/>
        </p:nvSpPr>
        <p:spPr>
          <a:xfrm flipV="1">
            <a:off x="609600" y="5294894"/>
            <a:ext cx="12230382" cy="45719"/>
          </a:xfrm>
          <a:prstGeom prst="rect">
            <a:avLst/>
          </a:prstGeom>
          <a:noFill/>
        </p:spPr>
        <p:txBody>
          <a:bodyPr wrap="square" rtlCol="0">
            <a:spAutoFit/>
          </a:bodyPr>
          <a:lstStyle/>
          <a:p>
            <a:endParaRPr lang="en-IN" sz="3000" dirty="0"/>
          </a:p>
        </p:txBody>
      </p:sp>
      <p:sp>
        <p:nvSpPr>
          <p:cNvPr id="10" name="Rectangle 4">
            <a:extLst>
              <a:ext uri="{FF2B5EF4-FFF2-40B4-BE49-F238E27FC236}">
                <a16:creationId xmlns:a16="http://schemas.microsoft.com/office/drawing/2014/main" id="{D5BAA0E0-F144-F23C-917A-6178337102E7}"/>
              </a:ext>
            </a:extLst>
          </p:cNvPr>
          <p:cNvSpPr>
            <a:spLocks noChangeArrowheads="1"/>
          </p:cNvSpPr>
          <p:nvPr/>
        </p:nvSpPr>
        <p:spPr bwMode="auto">
          <a:xfrm>
            <a:off x="4916" y="2367574"/>
            <a:ext cx="18477724"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Automatic Speech Recognition (ASR):</a:t>
            </a:r>
            <a:r>
              <a:rPr kumimoji="0" lang="en-US" altLang="en-US" sz="3000" b="0" i="0" u="none" strike="noStrike" cap="none" normalizeH="0" baseline="0" dirty="0">
                <a:ln>
                  <a:noFill/>
                </a:ln>
                <a:solidFill>
                  <a:schemeClr val="tx1"/>
                </a:solidFill>
                <a:effectLst/>
                <a:latin typeface="+mj-lt"/>
              </a:rPr>
              <a:t> Technology that converts human speech into text for applications such as virtual assistants, transcription systems, and voice-controlled interfaces.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Performance Limitation:</a:t>
            </a:r>
            <a:r>
              <a:rPr kumimoji="0" lang="en-US" altLang="en-US" sz="3000" b="0" i="0" u="none" strike="noStrike" cap="none" normalizeH="0" baseline="0" dirty="0">
                <a:ln>
                  <a:noFill/>
                </a:ln>
                <a:solidFill>
                  <a:schemeClr val="tx1"/>
                </a:solidFill>
                <a:effectLst/>
                <a:latin typeface="+mj-lt"/>
              </a:rPr>
              <a:t> ASR systems achieve high accuracy in controlled environments but show significant performance degradation in noisy real-world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Real-World Challenge:</a:t>
            </a:r>
            <a:r>
              <a:rPr kumimoji="0" lang="en-US" altLang="en-US" sz="3000" b="0" i="0" u="none" strike="noStrike" cap="none" normalizeH="0" baseline="0" dirty="0">
                <a:ln>
                  <a:noFill/>
                </a:ln>
                <a:solidFill>
                  <a:schemeClr val="tx1"/>
                </a:solidFill>
                <a:effectLst/>
                <a:latin typeface="+mj-lt"/>
              </a:rPr>
              <a:t> Environments like busy streets, hospitals, and industrial zones introduce noise, accent variation, and speech distortion, increasing transcription errors.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Core Problem:</a:t>
            </a:r>
            <a:r>
              <a:rPr kumimoji="0" lang="en-US" altLang="en-US" sz="3000" b="0" i="0" u="none" strike="noStrike" cap="none" normalizeH="0" baseline="0" dirty="0">
                <a:ln>
                  <a:noFill/>
                </a:ln>
                <a:solidFill>
                  <a:schemeClr val="tx1"/>
                </a:solidFill>
                <a:effectLst/>
                <a:latin typeface="+mj-lt"/>
              </a:rPr>
              <a:t> Existing ASR models rely on static training datasets and cannot automatically adapt to new acoustic conditions or recurring recognition failures.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Proposed Innovation:</a:t>
            </a:r>
            <a:r>
              <a:rPr kumimoji="0" lang="en-US" altLang="en-US" sz="3000" b="0" i="0" u="none" strike="noStrike" cap="none" normalizeH="0" baseline="0" dirty="0">
                <a:ln>
                  <a:noFill/>
                </a:ln>
                <a:solidFill>
                  <a:schemeClr val="tx1"/>
                </a:solidFill>
                <a:effectLst/>
                <a:latin typeface="+mj-lt"/>
              </a:rPr>
              <a:t> ADAPT-</a:t>
            </a:r>
            <a:r>
              <a:rPr kumimoji="0" lang="en-US" altLang="en-US" sz="3000" b="0" i="0" u="none" strike="noStrike" cap="none" normalizeH="0" baseline="0" dirty="0" err="1">
                <a:ln>
                  <a:noFill/>
                </a:ln>
                <a:solidFill>
                  <a:schemeClr val="tx1"/>
                </a:solidFill>
                <a:effectLst/>
                <a:latin typeface="+mj-lt"/>
              </a:rPr>
              <a:t>Synthetix</a:t>
            </a:r>
            <a:r>
              <a:rPr kumimoji="0" lang="en-US" altLang="en-US" sz="3000" b="0" i="0" u="none" strike="noStrike" cap="none" normalizeH="0" baseline="0" dirty="0">
                <a:ln>
                  <a:noFill/>
                </a:ln>
                <a:solidFill>
                  <a:schemeClr val="tx1"/>
                </a:solidFill>
                <a:effectLst/>
                <a:latin typeface="+mj-lt"/>
              </a:rPr>
              <a:t> introduces a closed-loop framework that detects ASR errors and generates targeted synthetic speech data to continuously improve model robustness.</a:t>
            </a:r>
          </a:p>
        </p:txBody>
      </p:sp>
    </p:spTree>
    <p:extLst>
      <p:ext uri="{BB962C8B-B14F-4D97-AF65-F5344CB8AC3E}">
        <p14:creationId xmlns:p14="http://schemas.microsoft.com/office/powerpoint/2010/main" val="4183758647"/>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0225" y="4414200"/>
            <a:ext cx="7036200" cy="5168700"/>
          </a:xfrm>
          <a:custGeom>
            <a:avLst/>
            <a:gdLst/>
            <a:ahLst/>
            <a:cxnLst/>
            <a:rect l="l" t="t" r="r" b="b"/>
            <a:pathLst>
              <a:path w="7036200" h="5168700">
                <a:moveTo>
                  <a:pt x="0" y="0"/>
                </a:moveTo>
                <a:lnTo>
                  <a:pt x="7036200" y="0"/>
                </a:lnTo>
                <a:lnTo>
                  <a:pt x="7036200" y="5168700"/>
                </a:lnTo>
                <a:lnTo>
                  <a:pt x="0" y="5168700"/>
                </a:lnTo>
                <a:lnTo>
                  <a:pt x="0" y="0"/>
                </a:lnTo>
                <a:close/>
              </a:path>
            </a:pathLst>
          </a:custGeom>
          <a:blipFill>
            <a:blip r:embed="rId3"/>
            <a:stretch>
              <a:fillRect l="101520" t="19208" r="-101519" b="-55339"/>
            </a:stretch>
          </a:blipFill>
        </p:spPr>
      </p:sp>
      <p:grpSp>
        <p:nvGrpSpPr>
          <p:cNvPr id="7" name="Group 7"/>
          <p:cNvGrpSpPr/>
          <p:nvPr/>
        </p:nvGrpSpPr>
        <p:grpSpPr>
          <a:xfrm>
            <a:off x="-19050" y="-19050"/>
            <a:ext cx="18287998" cy="865389"/>
            <a:chOff x="0" y="0"/>
            <a:chExt cx="24383998" cy="1153852"/>
          </a:xfrm>
        </p:grpSpPr>
        <p:sp>
          <p:nvSpPr>
            <p:cNvPr id="8" name="Freeform 8"/>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p:cNvGrpSpPr/>
          <p:nvPr/>
        </p:nvGrpSpPr>
        <p:grpSpPr>
          <a:xfrm>
            <a:off x="0" y="576350"/>
            <a:ext cx="18288000" cy="904701"/>
            <a:chOff x="0" y="0"/>
            <a:chExt cx="24384000" cy="1206268"/>
          </a:xfrm>
        </p:grpSpPr>
        <p:sp>
          <p:nvSpPr>
            <p:cNvPr id="12" name="Freeform 12"/>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txBody>
            <a:bodyPr/>
            <a:lstStyle/>
            <a:p>
              <a:endParaRPr lang="en-IN" dirty="0"/>
            </a:p>
          </p:txBody>
        </p:sp>
        <p:sp>
          <p:nvSpPr>
            <p:cNvPr id="13" name="TextBox 13"/>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Need for the System</a:t>
              </a:r>
            </a:p>
            <a:p>
              <a:pPr algn="l">
                <a:lnSpc>
                  <a:spcPts val="4536"/>
                </a:lnSpc>
              </a:pPr>
              <a:endParaRPr lang="en-US" sz="4200" b="1" dirty="0">
                <a:solidFill>
                  <a:srgbClr val="114B79"/>
                </a:solidFill>
                <a:latin typeface="Canva Sans Bold"/>
                <a:ea typeface="Canva Sans Bold"/>
                <a:cs typeface="Canva Sans Bold"/>
                <a:sym typeface="Canva Sans Bold"/>
              </a:endParaRP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4"/>
            <a:stretch>
              <a:fillRect/>
            </a:stretch>
          </a:blipFill>
        </p:spPr>
      </p:sp>
      <p:sp>
        <p:nvSpPr>
          <p:cNvPr id="3" name="Rectangle 1">
            <a:extLst>
              <a:ext uri="{FF2B5EF4-FFF2-40B4-BE49-F238E27FC236}">
                <a16:creationId xmlns:a16="http://schemas.microsoft.com/office/drawing/2014/main" id="{28F46965-EFB7-1F28-5A12-88768E16ECB5}"/>
              </a:ext>
            </a:extLst>
          </p:cNvPr>
          <p:cNvSpPr>
            <a:spLocks noChangeArrowheads="1"/>
          </p:cNvSpPr>
          <p:nvPr/>
        </p:nvSpPr>
        <p:spPr bwMode="auto">
          <a:xfrm>
            <a:off x="0" y="2171700"/>
            <a:ext cx="18498283"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Data Scarcity Problem:</a:t>
            </a:r>
            <a:r>
              <a:rPr kumimoji="0" lang="en-US" altLang="en-US" sz="3000" b="0" i="0" u="none" strike="noStrike" cap="none" normalizeH="0" baseline="0" dirty="0">
                <a:ln>
                  <a:noFill/>
                </a:ln>
                <a:solidFill>
                  <a:schemeClr val="tx1"/>
                </a:solidFill>
                <a:effectLst/>
                <a:latin typeface="+mj-lt"/>
              </a:rPr>
              <a:t> Collecting large-scale real-world speech data covering every noise condition, accent, and environment is costly and practically infeasible.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Performance Failure in Real Environments:</a:t>
            </a:r>
            <a:r>
              <a:rPr kumimoji="0" lang="en-US" altLang="en-US" sz="3000" b="0" i="0" u="none" strike="noStrike" cap="none" normalizeH="0" baseline="0" dirty="0">
                <a:ln>
                  <a:noFill/>
                </a:ln>
                <a:solidFill>
                  <a:schemeClr val="tx1"/>
                </a:solidFill>
                <a:effectLst/>
                <a:latin typeface="+mj-lt"/>
              </a:rPr>
              <a:t> Existing ASR systems exhibit high error rates in noisy and safety-critical scenarios such as urban navigation, healthcare communication, and industrial operations.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Lack of Adaptive Learning:</a:t>
            </a:r>
            <a:r>
              <a:rPr kumimoji="0" lang="en-US" altLang="en-US" sz="3000" b="0" i="0" u="none" strike="noStrike" cap="none" normalizeH="0" baseline="0" dirty="0">
                <a:ln>
                  <a:noFill/>
                </a:ln>
                <a:solidFill>
                  <a:schemeClr val="tx1"/>
                </a:solidFill>
                <a:effectLst/>
                <a:latin typeface="+mj-lt"/>
              </a:rPr>
              <a:t> Current ASR models require manual data collection and retraining, preventing automatic improvement from real-world transcription failures.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Privacy Constraints:</a:t>
            </a:r>
            <a:r>
              <a:rPr kumimoji="0" lang="en-US" altLang="en-US" sz="3000" b="0" i="0" u="none" strike="noStrike" cap="none" normalizeH="0" baseline="0" dirty="0">
                <a:ln>
                  <a:noFill/>
                </a:ln>
                <a:solidFill>
                  <a:schemeClr val="tx1"/>
                </a:solidFill>
                <a:effectLst/>
                <a:latin typeface="+mj-lt"/>
              </a:rPr>
              <a:t> Domains such as healthcare and emergency services restrict access to real speech recordings, limiting the availability of training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Need for Automated Augmentation:</a:t>
            </a:r>
            <a:r>
              <a:rPr kumimoji="0" lang="en-US" altLang="en-US" sz="3000" b="0" i="0" u="none" strike="noStrike" cap="none" normalizeH="0" baseline="0" dirty="0">
                <a:ln>
                  <a:noFill/>
                </a:ln>
                <a:solidFill>
                  <a:schemeClr val="tx1"/>
                </a:solidFill>
                <a:effectLst/>
                <a:latin typeface="+mj-lt"/>
              </a:rPr>
              <a:t> A system capable of generating targeted synthetic speech based on detected errors is required to continuously improve ASR robustness and reliability.</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817875" y="1377225"/>
            <a:ext cx="9309900" cy="828675"/>
          </a:xfrm>
          <a:prstGeom prst="rect">
            <a:avLst/>
          </a:prstGeom>
        </p:spPr>
        <p:txBody>
          <a:bodyPr lIns="0" tIns="0" rIns="0" bIns="0" rtlCol="0" anchor="t">
            <a:spAutoFit/>
          </a:bodyPr>
          <a:lstStyle/>
          <a:p>
            <a:pPr algn="l">
              <a:lnSpc>
                <a:spcPts val="6659"/>
              </a:lnSpc>
            </a:pPr>
            <a:r>
              <a:rPr lang="en-US" sz="5550" b="1">
                <a:solidFill>
                  <a:srgbClr val="3D5D71"/>
                </a:solidFill>
                <a:latin typeface="Canva Sans Bold"/>
                <a:ea typeface="Canva Sans Bold"/>
                <a:cs typeface="Canva Sans Bold"/>
                <a:sym typeface="Canva Sans Bold"/>
              </a:rPr>
              <a:t>Existing Solutions</a:t>
            </a:r>
          </a:p>
        </p:txBody>
      </p:sp>
      <p:sp>
        <p:nvSpPr>
          <p:cNvPr id="8" name="Freeform 8"/>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a:solidFill>
                    <a:srgbClr val="114B79"/>
                  </a:solidFill>
                  <a:latin typeface="Canva Sans Bold"/>
                  <a:ea typeface="Canva Sans Bold"/>
                  <a:cs typeface="Canva Sans Bold"/>
                  <a:sym typeface="Canva Sans Bold"/>
                </a:rPr>
                <a:t>   Literature Survey - Related to Existing Systems</a:t>
              </a:r>
            </a:p>
          </p:txBody>
        </p:sp>
      </p:grpSp>
      <p:sp>
        <p:nvSpPr>
          <p:cNvPr id="3" name="Rectangle 1">
            <a:extLst>
              <a:ext uri="{FF2B5EF4-FFF2-40B4-BE49-F238E27FC236}">
                <a16:creationId xmlns:a16="http://schemas.microsoft.com/office/drawing/2014/main" id="{2ABEED9F-8BD7-4ED7-59CC-78E712BA4E03}"/>
              </a:ext>
            </a:extLst>
          </p:cNvPr>
          <p:cNvSpPr>
            <a:spLocks noChangeArrowheads="1"/>
          </p:cNvSpPr>
          <p:nvPr/>
        </p:nvSpPr>
        <p:spPr bwMode="auto">
          <a:xfrm>
            <a:off x="17367" y="2702619"/>
            <a:ext cx="18287998"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Apple Personalized ASR:</a:t>
            </a:r>
            <a:r>
              <a:rPr kumimoji="0" lang="en-US" altLang="en-US" sz="3000" b="0" i="0" u="none" strike="noStrike" cap="none" normalizeH="0" baseline="0" dirty="0">
                <a:ln>
                  <a:noFill/>
                </a:ln>
                <a:solidFill>
                  <a:schemeClr val="tx1"/>
                </a:solidFill>
                <a:effectLst/>
                <a:latin typeface="+mj-lt"/>
              </a:rPr>
              <a:t> Focuses on speaker adaptation and voice personalization but provides limited robustness against diverse environmental noise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NVIDIA Riva:</a:t>
            </a:r>
            <a:r>
              <a:rPr kumimoji="0" lang="en-US" altLang="en-US" sz="3000" b="0" i="0" u="none" strike="noStrike" cap="none" normalizeH="0" baseline="0" dirty="0">
                <a:ln>
                  <a:noFill/>
                </a:ln>
                <a:solidFill>
                  <a:schemeClr val="tx1"/>
                </a:solidFill>
                <a:effectLst/>
                <a:latin typeface="+mj-lt"/>
              </a:rPr>
              <a:t> Enables customizable ASR deployment; however, dataset selection and model retraining require significant manual human intervention.</a:t>
            </a:r>
            <a:endParaRPr lang="en-US" altLang="en-US" sz="3000"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Amazon Alexa Systems:</a:t>
            </a:r>
            <a:r>
              <a:rPr kumimoji="0" lang="en-US" altLang="en-US" sz="3000" b="0" i="0" u="none" strike="noStrike" cap="none" normalizeH="0" baseline="0" dirty="0">
                <a:ln>
                  <a:noFill/>
                </a:ln>
                <a:solidFill>
                  <a:schemeClr val="tx1"/>
                </a:solidFill>
                <a:effectLst/>
                <a:latin typeface="+mj-lt"/>
              </a:rPr>
              <a:t> Utilize post-processing language correction techniques that fix transcription errors after occurrence rather than improving acoustic learning.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Google Cloud Speech-to-Text:</a:t>
            </a:r>
            <a:r>
              <a:rPr kumimoji="0" lang="en-US" altLang="en-US" sz="3000" b="0" i="0" u="none" strike="noStrike" cap="none" normalizeH="0" baseline="0" dirty="0">
                <a:ln>
                  <a:noFill/>
                </a:ln>
                <a:solidFill>
                  <a:schemeClr val="tx1"/>
                </a:solidFill>
                <a:effectLst/>
                <a:latin typeface="+mj-lt"/>
              </a:rPr>
              <a:t> Offers predefined device and environment profiles but lacks continuous adaptation based on real-time recognition failures.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Limitation of Current Approaches:</a:t>
            </a:r>
            <a:r>
              <a:rPr kumimoji="0" lang="en-US" altLang="en-US" sz="3000" b="0" i="0" u="none" strike="noStrike" cap="none" normalizeH="0" baseline="0" dirty="0">
                <a:ln>
                  <a:noFill/>
                </a:ln>
                <a:solidFill>
                  <a:schemeClr val="tx1"/>
                </a:solidFill>
                <a:effectLst/>
                <a:latin typeface="+mj-lt"/>
              </a:rPr>
              <a:t> Existing solutions operate using open-loop training pipelines without automated feedback mechanisms to identify errors and generate corrective training data.</a:t>
            </a: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Literature Survey (in form of table)</a:t>
              </a:r>
            </a:p>
          </p:txBody>
        </p:sp>
      </p:grpSp>
      <p:graphicFrame>
        <p:nvGraphicFramePr>
          <p:cNvPr id="9" name="Table 12"/>
          <p:cNvGraphicFramePr>
            <a:graphicFrameLocks noGrp="1"/>
          </p:cNvGraphicFramePr>
          <p:nvPr>
            <p:extLst>
              <p:ext uri="{D42A27DB-BD31-4B8C-83A1-F6EECF244321}">
                <p14:modId xmlns:p14="http://schemas.microsoft.com/office/powerpoint/2010/main" val="782933098"/>
              </p:ext>
            </p:extLst>
          </p:nvPr>
        </p:nvGraphicFramePr>
        <p:xfrm>
          <a:off x="838200" y="1420926"/>
          <a:ext cx="15240000" cy="8900013"/>
        </p:xfrm>
        <a:graphic>
          <a:graphicData uri="http://schemas.openxmlformats.org/drawingml/2006/table">
            <a:tbl>
              <a:tblPr/>
              <a:tblGrid>
                <a:gridCol w="3638045">
                  <a:extLst>
                    <a:ext uri="{9D8B030D-6E8A-4147-A177-3AD203B41FA5}">
                      <a16:colId xmlns:a16="http://schemas.microsoft.com/office/drawing/2014/main" val="20000"/>
                    </a:ext>
                  </a:extLst>
                </a:gridCol>
                <a:gridCol w="1637373">
                  <a:extLst>
                    <a:ext uri="{9D8B030D-6E8A-4147-A177-3AD203B41FA5}">
                      <a16:colId xmlns:a16="http://schemas.microsoft.com/office/drawing/2014/main" val="20001"/>
                    </a:ext>
                  </a:extLst>
                </a:gridCol>
                <a:gridCol w="4982291">
                  <a:extLst>
                    <a:ext uri="{9D8B030D-6E8A-4147-A177-3AD203B41FA5}">
                      <a16:colId xmlns:a16="http://schemas.microsoft.com/office/drawing/2014/main" val="20002"/>
                    </a:ext>
                  </a:extLst>
                </a:gridCol>
                <a:gridCol w="4982291">
                  <a:extLst>
                    <a:ext uri="{9D8B030D-6E8A-4147-A177-3AD203B41FA5}">
                      <a16:colId xmlns:a16="http://schemas.microsoft.com/office/drawing/2014/main" val="1850622426"/>
                    </a:ext>
                  </a:extLst>
                </a:gridCol>
              </a:tblGrid>
              <a:tr h="2159127">
                <a:tc>
                  <a:txBody>
                    <a:bodyPr/>
                    <a:lstStyle/>
                    <a:p>
                      <a:pPr algn="ctr">
                        <a:lnSpc>
                          <a:spcPts val="949"/>
                        </a:lnSpc>
                        <a:defRPr/>
                      </a:pPr>
                      <a:r>
                        <a:rPr lang="en-US" sz="1899" u="none" strike="noStrike" dirty="0">
                          <a:solidFill>
                            <a:srgbClr val="000000"/>
                          </a:solidFill>
                          <a:latin typeface="Canva Sans"/>
                          <a:ea typeface="Canva Sans"/>
                          <a:cs typeface="Canva Sans"/>
                          <a:sym typeface="Canva Sans"/>
                        </a:rPr>
                        <a:t>Paper Name</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u="none" strike="noStrike" dirty="0">
                          <a:solidFill>
                            <a:srgbClr val="000000"/>
                          </a:solidFill>
                          <a:latin typeface="Canva Sans"/>
                          <a:ea typeface="Canva Sans"/>
                          <a:cs typeface="Canva Sans"/>
                          <a:sym typeface="Canva Sans"/>
                        </a:rPr>
                        <a:t>Journal/Conference Name and</a:t>
                      </a:r>
                      <a:r>
                        <a:rPr lang="en-US" sz="2000" u="none" strike="noStrike" baseline="0" dirty="0">
                          <a:solidFill>
                            <a:srgbClr val="000000"/>
                          </a:solidFill>
                          <a:latin typeface="Canva Sans"/>
                          <a:ea typeface="Canva Sans"/>
                          <a:cs typeface="Canva Sans"/>
                          <a:sym typeface="Canva Sans"/>
                        </a:rPr>
                        <a:t> </a:t>
                      </a:r>
                      <a:r>
                        <a:rPr lang="en-US" sz="2000" u="none" strike="noStrike" dirty="0">
                          <a:solidFill>
                            <a:srgbClr val="000000"/>
                          </a:solidFill>
                          <a:latin typeface="Canva Sans"/>
                          <a:ea typeface="Canva Sans"/>
                          <a:cs typeface="Canva Sans"/>
                          <a:sym typeface="Canva Sans"/>
                        </a:rPr>
                        <a:t>Year</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t>Methodology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t>Gaps</a:t>
                      </a:r>
                      <a:r>
                        <a:rPr lang="en-US" sz="1400" baseline="0" dirty="0"/>
                        <a:t> </a:t>
                      </a:r>
                      <a:endParaRPr lang="en-US" sz="14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84966">
                <a:tc>
                  <a:txBody>
                    <a:bodyPr/>
                    <a:lstStyle/>
                    <a:p>
                      <a:pPr algn="ctr">
                        <a:buNone/>
                      </a:pPr>
                      <a:r>
                        <a:rPr lang="en-US" sz="2000" i="1"/>
                        <a:t>Sorry, I Didn’t Catch That</a:t>
                      </a:r>
                      <a:endParaRPr lang="en-US" sz="2000"/>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IN" sz="2000"/>
                        <a:t>Together AI Report, 2026</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a:t>Benchmarking multiple state-of-the-art ASR models in real-world navigation environments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a:t>High transcription errors in noisy urban conditions; lacks adaptive correction mechanism</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52712">
                <a:tc>
                  <a:txBody>
                    <a:bodyPr/>
                    <a:lstStyle/>
                    <a:p>
                      <a:pPr algn="ctr">
                        <a:buNone/>
                      </a:pPr>
                      <a:r>
                        <a:rPr lang="en-US" sz="2000" i="0"/>
                        <a:t>Benchmarking STT in Emergency Medical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Benchmarking STT in Emergency Medical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Benchmarking STT in Emergency Medical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dirty="0"/>
                        <a:t>Benchmarking STT in Emergency Medical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45676">
                <a:tc>
                  <a:txBody>
                    <a:bodyPr/>
                    <a:lstStyle/>
                    <a:p>
                      <a:pPr algn="ctr">
                        <a:buNone/>
                      </a:pPr>
                      <a:r>
                        <a:rPr lang="en-US" sz="2000" i="0"/>
                        <a:t>When De-noising Hurts: Analysis of Speech Enhancement for ASR</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When De-noising Hurts: Analysis of Speech Enhancement for ASR</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When De-noising Hurts: Analysis of Speech Enhancement for ASR</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dirty="0"/>
                        <a:t>When De-noising Hurts: Analysis of Speech Enhancement for ASR</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45676">
                <a:tc>
                  <a:txBody>
                    <a:bodyPr/>
                    <a:lstStyle/>
                    <a:p>
                      <a:pPr algn="ctr">
                        <a:buNone/>
                      </a:pPr>
                      <a:r>
                        <a:rPr lang="en-US" sz="2000" i="0" dirty="0"/>
                        <a:t>MEDSAGE: Enhancing Robustness using Synthetic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MEDSAGE: Enhancing Robustness using Synthetic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a:t>MEDSAGE: Enhancing Robustness using Synthetic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US" sz="2000" i="0" dirty="0"/>
                        <a:t>MEDSAGE: Enhancing Robustness using Synthetic Dialogues</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6822627"/>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9050" y="-19050"/>
            <a:ext cx="18287998" cy="865389"/>
            <a:chOff x="0" y="0"/>
            <a:chExt cx="24383998" cy="1153852"/>
          </a:xfrm>
        </p:grpSpPr>
        <p:sp>
          <p:nvSpPr>
            <p:cNvPr id="8" name="Freeform 8"/>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p:cNvGrpSpPr/>
          <p:nvPr/>
        </p:nvGrpSpPr>
        <p:grpSpPr>
          <a:xfrm>
            <a:off x="0" y="576350"/>
            <a:ext cx="18288000" cy="904701"/>
            <a:chOff x="0" y="0"/>
            <a:chExt cx="24384000" cy="1206268"/>
          </a:xfrm>
        </p:grpSpPr>
        <p:sp>
          <p:nvSpPr>
            <p:cNvPr id="12" name="Freeform 12"/>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Gaps Identified</a:t>
              </a: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3" name="TextBox 2">
            <a:extLst>
              <a:ext uri="{FF2B5EF4-FFF2-40B4-BE49-F238E27FC236}">
                <a16:creationId xmlns:a16="http://schemas.microsoft.com/office/drawing/2014/main" id="{36078F50-0AC1-D8F0-441A-422819D07CB1}"/>
              </a:ext>
            </a:extLst>
          </p:cNvPr>
          <p:cNvSpPr txBox="1"/>
          <p:nvPr/>
        </p:nvSpPr>
        <p:spPr>
          <a:xfrm flipV="1">
            <a:off x="705485" y="7608331"/>
            <a:ext cx="16058515" cy="45719"/>
          </a:xfrm>
          <a:prstGeom prst="rect">
            <a:avLst/>
          </a:prstGeom>
          <a:noFill/>
        </p:spPr>
        <p:txBody>
          <a:bodyPr wrap="square" rtlCol="0">
            <a:spAutoFit/>
          </a:bodyPr>
          <a:lstStyle/>
          <a:p>
            <a:pPr marL="285750" indent="-285750">
              <a:buFont typeface="Arial" panose="020B0604020202020204" pitchFamily="34" charset="0"/>
              <a:buChar char="•"/>
            </a:pPr>
            <a:endParaRPr lang="en-IN" dirty="0"/>
          </a:p>
        </p:txBody>
      </p:sp>
      <p:sp>
        <p:nvSpPr>
          <p:cNvPr id="5" name="Rectangle 2">
            <a:extLst>
              <a:ext uri="{FF2B5EF4-FFF2-40B4-BE49-F238E27FC236}">
                <a16:creationId xmlns:a16="http://schemas.microsoft.com/office/drawing/2014/main" id="{A2156AE2-41E5-6931-EC3A-1CB09413E1B5}"/>
              </a:ext>
            </a:extLst>
          </p:cNvPr>
          <p:cNvSpPr>
            <a:spLocks noChangeArrowheads="1"/>
          </p:cNvSpPr>
          <p:nvPr/>
        </p:nvSpPr>
        <p:spPr bwMode="auto">
          <a:xfrm>
            <a:off x="-19050" y="2569449"/>
            <a:ext cx="184404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Non-Targeted Data Augmentation:</a:t>
            </a:r>
            <a:r>
              <a:rPr kumimoji="0" lang="en-US" altLang="en-US" sz="3000" b="0" i="0" u="none" strike="noStrike" cap="none" normalizeH="0" baseline="0" dirty="0">
                <a:ln>
                  <a:noFill/>
                </a:ln>
                <a:solidFill>
                  <a:schemeClr val="tx1"/>
                </a:solidFill>
                <a:effectLst/>
                <a:latin typeface="+mj-lt"/>
              </a:rPr>
              <a:t> Current augmentation techniques apply random noise instead of addressing specific acoustic or phonetic failure cases.</a:t>
            </a:r>
          </a:p>
          <a:p>
            <a:pPr marL="0" marR="0" lvl="0" indent="0"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Limited Environmental Adaptability:</a:t>
            </a:r>
            <a:r>
              <a:rPr kumimoji="0" lang="en-US" altLang="en-US" sz="3000" b="0" i="0" u="none" strike="noStrike" cap="none" normalizeH="0" baseline="0" dirty="0">
                <a:ln>
                  <a:noFill/>
                </a:ln>
                <a:solidFill>
                  <a:schemeClr val="tx1"/>
                </a:solidFill>
                <a:effectLst/>
                <a:latin typeface="+mj-lt"/>
              </a:rPr>
              <a:t> Present systems struggle to adapt dynamically to diverse real-world noise conditions and changing acoustic environments.</a:t>
            </a:r>
          </a:p>
          <a:p>
            <a:pPr marL="0" marR="0" lvl="0" indent="0"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Accent and Linguistic Bias:</a:t>
            </a:r>
            <a:r>
              <a:rPr kumimoji="0" lang="en-US" altLang="en-US" sz="3000" b="0" i="0" u="none" strike="noStrike" cap="none" normalizeH="0" baseline="0" dirty="0">
                <a:ln>
                  <a:noFill/>
                </a:ln>
                <a:solidFill>
                  <a:schemeClr val="tx1"/>
                </a:solidFill>
                <a:effectLst/>
                <a:latin typeface="+mj-lt"/>
              </a:rPr>
              <a:t> High Word Error Rates persist for regional accents and non-native speakers due to insufficient representative training data.</a:t>
            </a:r>
          </a:p>
          <a:p>
            <a:pPr marL="0" marR="0" lvl="0" indent="0" defTabSz="914400" rtl="0" eaLnBrk="0" fontAlgn="base" latinLnBrk="0" hangingPunct="0">
              <a:lnSpc>
                <a:spcPct val="100000"/>
              </a:lnSpc>
              <a:spcBef>
                <a:spcPct val="0"/>
              </a:spcBef>
              <a:spcAft>
                <a:spcPct val="0"/>
              </a:spcAft>
              <a:buClrTx/>
              <a:buSzTx/>
              <a:tabLst/>
            </a:pPr>
            <a:endParaRPr kumimoji="0" lang="en-US" altLang="en-US" sz="3000" b="0" i="0" u="none" strike="noStrike" cap="none" normalizeH="0" baseline="0" dirty="0">
              <a:ln>
                <a:noFill/>
              </a:ln>
              <a:solidFill>
                <a:schemeClr val="tx1"/>
              </a:solidFill>
              <a:effectLst/>
              <a:latin typeface="+mj-l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Manual Retraining Dependency:</a:t>
            </a:r>
            <a:r>
              <a:rPr kumimoji="0" lang="en-US" altLang="en-US" sz="3000" b="0" i="0" u="none" strike="noStrike" cap="none" normalizeH="0" baseline="0" dirty="0">
                <a:ln>
                  <a:noFill/>
                </a:ln>
                <a:solidFill>
                  <a:schemeClr val="tx1"/>
                </a:solidFill>
                <a:effectLst/>
                <a:latin typeface="+mj-lt"/>
              </a:rPr>
              <a:t> Most ASR improvement pipelines require human intervention for dataset collection, labeling, and model fine-tuning.</a:t>
            </a:r>
          </a:p>
        </p:txBody>
      </p:sp>
    </p:spTree>
    <p:extLst>
      <p:ext uri="{BB962C8B-B14F-4D97-AF65-F5344CB8AC3E}">
        <p14:creationId xmlns:p14="http://schemas.microsoft.com/office/powerpoint/2010/main" val="294560587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D421B-814E-C76E-E800-EDB4D500E1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95532E-69FE-B688-C819-4A76B042B3A4}"/>
              </a:ext>
            </a:extLst>
          </p:cNvPr>
          <p:cNvSpPr/>
          <p:nvPr/>
        </p:nvSpPr>
        <p:spPr>
          <a:xfrm>
            <a:off x="1020225" y="4414200"/>
            <a:ext cx="7036200" cy="5168700"/>
          </a:xfrm>
          <a:custGeom>
            <a:avLst/>
            <a:gdLst/>
            <a:ahLst/>
            <a:cxnLst/>
            <a:rect l="l" t="t" r="r" b="b"/>
            <a:pathLst>
              <a:path w="7036200" h="5168700">
                <a:moveTo>
                  <a:pt x="0" y="0"/>
                </a:moveTo>
                <a:lnTo>
                  <a:pt x="7036200" y="0"/>
                </a:lnTo>
                <a:lnTo>
                  <a:pt x="7036200" y="5168700"/>
                </a:lnTo>
                <a:lnTo>
                  <a:pt x="0" y="5168700"/>
                </a:lnTo>
                <a:lnTo>
                  <a:pt x="0" y="0"/>
                </a:lnTo>
                <a:close/>
              </a:path>
            </a:pathLst>
          </a:custGeom>
          <a:blipFill>
            <a:blip r:embed="rId3"/>
            <a:stretch>
              <a:fillRect l="101520" t="19208" r="-101519" b="-55339"/>
            </a:stretch>
          </a:blipFill>
        </p:spPr>
      </p:sp>
      <p:grpSp>
        <p:nvGrpSpPr>
          <p:cNvPr id="7" name="Group 7">
            <a:extLst>
              <a:ext uri="{FF2B5EF4-FFF2-40B4-BE49-F238E27FC236}">
                <a16:creationId xmlns:a16="http://schemas.microsoft.com/office/drawing/2014/main" id="{F5213BF7-B4EF-FA86-C636-69994B5A73AA}"/>
              </a:ext>
            </a:extLst>
          </p:cNvPr>
          <p:cNvGrpSpPr/>
          <p:nvPr/>
        </p:nvGrpSpPr>
        <p:grpSpPr>
          <a:xfrm>
            <a:off x="-19050" y="-19050"/>
            <a:ext cx="18287998" cy="865389"/>
            <a:chOff x="0" y="0"/>
            <a:chExt cx="24383998" cy="1153852"/>
          </a:xfrm>
        </p:grpSpPr>
        <p:sp>
          <p:nvSpPr>
            <p:cNvPr id="8" name="Freeform 8">
              <a:extLst>
                <a:ext uri="{FF2B5EF4-FFF2-40B4-BE49-F238E27FC236}">
                  <a16:creationId xmlns:a16="http://schemas.microsoft.com/office/drawing/2014/main" id="{D0D23F8A-64D6-EDBD-72E2-B0867BBAC463}"/>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a:extLst>
                <a:ext uri="{FF2B5EF4-FFF2-40B4-BE49-F238E27FC236}">
                  <a16:creationId xmlns:a16="http://schemas.microsoft.com/office/drawing/2014/main" id="{A5149F4C-A758-E9CE-09DE-A373F32A06D2}"/>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a:extLst>
              <a:ext uri="{FF2B5EF4-FFF2-40B4-BE49-F238E27FC236}">
                <a16:creationId xmlns:a16="http://schemas.microsoft.com/office/drawing/2014/main" id="{2404E01B-D9C8-6F7B-6E6A-93D06C145C3E}"/>
              </a:ext>
            </a:extLst>
          </p:cNvPr>
          <p:cNvGrpSpPr/>
          <p:nvPr/>
        </p:nvGrpSpPr>
        <p:grpSpPr>
          <a:xfrm>
            <a:off x="0" y="576350"/>
            <a:ext cx="18288000" cy="904701"/>
            <a:chOff x="0" y="0"/>
            <a:chExt cx="24384000" cy="1206268"/>
          </a:xfrm>
        </p:grpSpPr>
        <p:sp>
          <p:nvSpPr>
            <p:cNvPr id="12" name="Freeform 12">
              <a:extLst>
                <a:ext uri="{FF2B5EF4-FFF2-40B4-BE49-F238E27FC236}">
                  <a16:creationId xmlns:a16="http://schemas.microsoft.com/office/drawing/2014/main" id="{AE09A72B-31B2-C995-DBB1-B34530D4E9E0}"/>
                </a:ext>
              </a:extLst>
            </p:cNvPr>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a:extLst>
                <a:ext uri="{FF2B5EF4-FFF2-40B4-BE49-F238E27FC236}">
                  <a16:creationId xmlns:a16="http://schemas.microsoft.com/office/drawing/2014/main" id="{2039740B-5BA5-7E7A-DB2F-5997F880EC76}"/>
                </a:ext>
              </a:extLst>
            </p:cNvPr>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Problem Statement</a:t>
              </a:r>
            </a:p>
          </p:txBody>
        </p:sp>
      </p:grpSp>
      <p:sp>
        <p:nvSpPr>
          <p:cNvPr id="15" name="Freeform 15">
            <a:extLst>
              <a:ext uri="{FF2B5EF4-FFF2-40B4-BE49-F238E27FC236}">
                <a16:creationId xmlns:a16="http://schemas.microsoft.com/office/drawing/2014/main" id="{2FD0ED15-0C4E-04A6-7086-FE1ED70491D7}"/>
              </a:ext>
            </a:extLst>
          </p:cNvPr>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4"/>
            <a:stretch>
              <a:fillRect/>
            </a:stretch>
          </a:blipFill>
        </p:spPr>
      </p:sp>
      <p:sp>
        <p:nvSpPr>
          <p:cNvPr id="3" name="TextBox 2">
            <a:extLst>
              <a:ext uri="{FF2B5EF4-FFF2-40B4-BE49-F238E27FC236}">
                <a16:creationId xmlns:a16="http://schemas.microsoft.com/office/drawing/2014/main" id="{16D62645-B23E-EE30-BCB8-8F3AA10756FE}"/>
              </a:ext>
            </a:extLst>
          </p:cNvPr>
          <p:cNvSpPr txBox="1"/>
          <p:nvPr/>
        </p:nvSpPr>
        <p:spPr>
          <a:xfrm>
            <a:off x="1020225" y="3136879"/>
            <a:ext cx="14219776" cy="2554545"/>
          </a:xfrm>
          <a:prstGeom prst="rect">
            <a:avLst/>
          </a:prstGeom>
          <a:noFill/>
        </p:spPr>
        <p:txBody>
          <a:bodyPr wrap="square" rtlCol="0">
            <a:spAutoFit/>
          </a:bodyPr>
          <a:lstStyle/>
          <a:p>
            <a:r>
              <a:rPr lang="en-US" sz="3200" dirty="0"/>
              <a:t>To develop a closed-loop, error-adaptive framework that automatically identifies transcription failures in Automatic Speech Recognition (ASR) systems and generates targeted synthetic speech data to address specific acoustic and linguistic blind spots, thereby reducing Word Error Rate (WER) and improving robustness in real-world noisy environments.</a:t>
            </a:r>
            <a:endParaRPr lang="en-IN" sz="3000" dirty="0"/>
          </a:p>
        </p:txBody>
      </p:sp>
    </p:spTree>
    <p:extLst>
      <p:ext uri="{BB962C8B-B14F-4D97-AF65-F5344CB8AC3E}">
        <p14:creationId xmlns:p14="http://schemas.microsoft.com/office/powerpoint/2010/main" val="295957840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Proposed solution</a:t>
              </a:r>
            </a:p>
          </p:txBody>
        </p:sp>
      </p:grpSp>
      <p:sp>
        <p:nvSpPr>
          <p:cNvPr id="3" name="Rectangle 1">
            <a:extLst>
              <a:ext uri="{FF2B5EF4-FFF2-40B4-BE49-F238E27FC236}">
                <a16:creationId xmlns:a16="http://schemas.microsoft.com/office/drawing/2014/main" id="{5AEBF800-4B57-D9AC-07D1-DF421D2EB984}"/>
              </a:ext>
            </a:extLst>
          </p:cNvPr>
          <p:cNvSpPr>
            <a:spLocks noChangeArrowheads="1"/>
          </p:cNvSpPr>
          <p:nvPr/>
        </p:nvSpPr>
        <p:spPr bwMode="auto">
          <a:xfrm>
            <a:off x="122903" y="2504410"/>
            <a:ext cx="1844040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ASR Module (The Ear):</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Utilization of the Wav2Vec 2.0 framework to perform speech recognition and identify low-confidence or incorrectly transcribed words.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TTS Module (The Voice):</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A multi-stage Text-to-Speech pipeline using </a:t>
            </a:r>
            <a:r>
              <a:rPr kumimoji="0" lang="en-US" altLang="en-US" sz="3000" b="0" i="0" u="none" strike="noStrike" cap="none" normalizeH="0" baseline="0" dirty="0" err="1">
                <a:ln>
                  <a:noFill/>
                </a:ln>
                <a:solidFill>
                  <a:schemeClr val="tx1"/>
                </a:solidFill>
                <a:effectLst/>
                <a:latin typeface="+mj-lt"/>
              </a:rPr>
              <a:t>MeloTTS</a:t>
            </a:r>
            <a:r>
              <a:rPr kumimoji="0" lang="en-US" altLang="en-US" sz="3000" b="0" i="0" u="none" strike="noStrike" cap="none" normalizeH="0" baseline="0" dirty="0">
                <a:ln>
                  <a:noFill/>
                </a:ln>
                <a:solidFill>
                  <a:schemeClr val="tx1"/>
                </a:solidFill>
                <a:effectLst/>
                <a:latin typeface="+mj-lt"/>
              </a:rPr>
              <a:t>, XTTS-v2, and Fish Speech to generate diverse synthetic speech samples with variations in accent, tone, and speaking style.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Adaptive Feedback Loop (The Brain):</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Automated analysis of ASR errors to determine acoustic failure types such as noise interference, pronunciation variation, or environmental distortion.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Targeted Data Augmentation:</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Generation of synthetic speech combined with environmental, acoustic, and device-based noise to simulate real-world failure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Model Retraining and Optimization:</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Continuous fine-tuning of the ASR model using a mixture of real and generated data to iteratively reduce Word Error Rate and improve robustness.</a:t>
            </a:r>
          </a:p>
        </p:txBody>
      </p:sp>
    </p:spTree>
    <p:extLst>
      <p:ext uri="{BB962C8B-B14F-4D97-AF65-F5344CB8AC3E}">
        <p14:creationId xmlns:p14="http://schemas.microsoft.com/office/powerpoint/2010/main" val="1043529064"/>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074F-02D4-6A48-5D1F-D40EA1C1AB1D}"/>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3ACF652-C529-7C30-CB93-C6BFE6BBB03F}"/>
              </a:ext>
            </a:extLst>
          </p:cNvPr>
          <p:cNvGrpSpPr/>
          <p:nvPr/>
        </p:nvGrpSpPr>
        <p:grpSpPr>
          <a:xfrm>
            <a:off x="29499" y="92881"/>
            <a:ext cx="18287998" cy="865389"/>
            <a:chOff x="0" y="0"/>
            <a:chExt cx="24383998" cy="1153852"/>
          </a:xfrm>
        </p:grpSpPr>
        <p:sp>
          <p:nvSpPr>
            <p:cNvPr id="8" name="Freeform 8">
              <a:extLst>
                <a:ext uri="{FF2B5EF4-FFF2-40B4-BE49-F238E27FC236}">
                  <a16:creationId xmlns:a16="http://schemas.microsoft.com/office/drawing/2014/main" id="{F76DF5DB-4F8D-D7C1-79A1-8B61161C2E24}"/>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a:extLst>
                <a:ext uri="{FF2B5EF4-FFF2-40B4-BE49-F238E27FC236}">
                  <a16:creationId xmlns:a16="http://schemas.microsoft.com/office/drawing/2014/main" id="{194CF230-C210-51E8-EFDF-48CC0781566B}"/>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a:extLst>
              <a:ext uri="{FF2B5EF4-FFF2-40B4-BE49-F238E27FC236}">
                <a16:creationId xmlns:a16="http://schemas.microsoft.com/office/drawing/2014/main" id="{127C0C9B-820C-0D25-498A-505F4C6A72AA}"/>
              </a:ext>
            </a:extLst>
          </p:cNvPr>
          <p:cNvGrpSpPr/>
          <p:nvPr/>
        </p:nvGrpSpPr>
        <p:grpSpPr>
          <a:xfrm>
            <a:off x="0" y="576350"/>
            <a:ext cx="18288000" cy="904701"/>
            <a:chOff x="0" y="0"/>
            <a:chExt cx="24384000" cy="1206268"/>
          </a:xfrm>
        </p:grpSpPr>
        <p:sp>
          <p:nvSpPr>
            <p:cNvPr id="12" name="Freeform 12">
              <a:extLst>
                <a:ext uri="{FF2B5EF4-FFF2-40B4-BE49-F238E27FC236}">
                  <a16:creationId xmlns:a16="http://schemas.microsoft.com/office/drawing/2014/main" id="{B58E97DF-819B-CAF8-C4AD-42A70E6C248D}"/>
                </a:ext>
              </a:extLst>
            </p:cNvPr>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a:extLst>
                <a:ext uri="{FF2B5EF4-FFF2-40B4-BE49-F238E27FC236}">
                  <a16:creationId xmlns:a16="http://schemas.microsoft.com/office/drawing/2014/main" id="{AE208B2C-CA16-3A72-BDC4-63818D039D53}"/>
                </a:ext>
              </a:extLst>
            </p:cNvPr>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Flow of System</a:t>
              </a:r>
            </a:p>
            <a:p>
              <a:pPr algn="l">
                <a:lnSpc>
                  <a:spcPts val="4536"/>
                </a:lnSpc>
              </a:pPr>
              <a:endParaRPr lang="en-US" sz="4200" b="1" dirty="0">
                <a:solidFill>
                  <a:srgbClr val="114B79"/>
                </a:solidFill>
                <a:latin typeface="Canva Sans Bold"/>
                <a:ea typeface="Canva Sans Bold"/>
                <a:cs typeface="Canva Sans Bold"/>
                <a:sym typeface="Canva Sans Bold"/>
              </a:endParaRPr>
            </a:p>
          </p:txBody>
        </p:sp>
      </p:grpSp>
      <p:sp>
        <p:nvSpPr>
          <p:cNvPr id="15" name="Freeform 15">
            <a:extLst>
              <a:ext uri="{FF2B5EF4-FFF2-40B4-BE49-F238E27FC236}">
                <a16:creationId xmlns:a16="http://schemas.microsoft.com/office/drawing/2014/main" id="{CC22932B-0FE2-25CC-9F89-510E847F9542}"/>
              </a:ext>
            </a:extLst>
          </p:cNvPr>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6" name="Picture 5">
            <a:extLst>
              <a:ext uri="{FF2B5EF4-FFF2-40B4-BE49-F238E27FC236}">
                <a16:creationId xmlns:a16="http://schemas.microsoft.com/office/drawing/2014/main" id="{77FC28D8-9D2E-F27F-4DDE-7F7AADA0A477}"/>
              </a:ext>
            </a:extLst>
          </p:cNvPr>
          <p:cNvPicPr>
            <a:picLocks noChangeAspect="1"/>
          </p:cNvPicPr>
          <p:nvPr/>
        </p:nvPicPr>
        <p:blipFill>
          <a:blip r:embed="rId4">
            <a:biLevel thresh="50000"/>
          </a:blip>
          <a:stretch>
            <a:fillRect/>
          </a:stretch>
        </p:blipFill>
        <p:spPr>
          <a:xfrm>
            <a:off x="2247900" y="1702421"/>
            <a:ext cx="13792200" cy="8395601"/>
          </a:xfrm>
          <a:prstGeom prst="rect">
            <a:avLst/>
          </a:prstGeom>
          <a:ln>
            <a:solidFill>
              <a:schemeClr val="tx1"/>
            </a:solidFill>
          </a:ln>
        </p:spPr>
      </p:pic>
      <p:sp>
        <p:nvSpPr>
          <p:cNvPr id="10" name="Rectangle 9">
            <a:extLst>
              <a:ext uri="{FF2B5EF4-FFF2-40B4-BE49-F238E27FC236}">
                <a16:creationId xmlns:a16="http://schemas.microsoft.com/office/drawing/2014/main" id="{E5738370-E74F-9649-D45F-2998D13E2C2E}"/>
              </a:ext>
            </a:extLst>
          </p:cNvPr>
          <p:cNvSpPr/>
          <p:nvPr/>
        </p:nvSpPr>
        <p:spPr>
          <a:xfrm>
            <a:off x="14287500" y="9105900"/>
            <a:ext cx="1752600" cy="85078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endParaRPr>
          </a:p>
        </p:txBody>
      </p:sp>
    </p:spTree>
    <p:extLst>
      <p:ext uri="{BB962C8B-B14F-4D97-AF65-F5344CB8AC3E}">
        <p14:creationId xmlns:p14="http://schemas.microsoft.com/office/powerpoint/2010/main" val="3260904768"/>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C915898B-46D8-02E8-28AB-5FBBB07562A1}"/>
              </a:ext>
            </a:extLst>
          </p:cNvPr>
          <p:cNvGrpSpPr/>
          <p:nvPr/>
        </p:nvGrpSpPr>
        <p:grpSpPr>
          <a:xfrm>
            <a:off x="29499" y="92881"/>
            <a:ext cx="18287998" cy="865389"/>
            <a:chOff x="0" y="0"/>
            <a:chExt cx="24383998" cy="1153852"/>
          </a:xfrm>
        </p:grpSpPr>
        <p:sp>
          <p:nvSpPr>
            <p:cNvPr id="3" name="Freeform 8">
              <a:extLst>
                <a:ext uri="{FF2B5EF4-FFF2-40B4-BE49-F238E27FC236}">
                  <a16:creationId xmlns:a16="http://schemas.microsoft.com/office/drawing/2014/main" id="{EB4EE290-DE97-982E-657E-D338FBA7BDA8}"/>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4" name="TextBox 9">
              <a:extLst>
                <a:ext uri="{FF2B5EF4-FFF2-40B4-BE49-F238E27FC236}">
                  <a16:creationId xmlns:a16="http://schemas.microsoft.com/office/drawing/2014/main" id="{94D16CBC-8F09-F136-2B8B-1844A7F8E70A}"/>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sp>
        <p:nvSpPr>
          <p:cNvPr id="5" name="Freeform 12">
            <a:extLst>
              <a:ext uri="{FF2B5EF4-FFF2-40B4-BE49-F238E27FC236}">
                <a16:creationId xmlns:a16="http://schemas.microsoft.com/office/drawing/2014/main" id="{19359265-73D6-F99F-FA8C-3B0ACECE3F6D}"/>
              </a:ext>
            </a:extLst>
          </p:cNvPr>
          <p:cNvSpPr/>
          <p:nvPr/>
        </p:nvSpPr>
        <p:spPr>
          <a:xfrm>
            <a:off x="0" y="636452"/>
            <a:ext cx="18288000" cy="904653"/>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8" name="TextBox 7">
            <a:extLst>
              <a:ext uri="{FF2B5EF4-FFF2-40B4-BE49-F238E27FC236}">
                <a16:creationId xmlns:a16="http://schemas.microsoft.com/office/drawing/2014/main" id="{B150284F-5B03-729A-4A9C-E7B956551177}"/>
              </a:ext>
            </a:extLst>
          </p:cNvPr>
          <p:cNvSpPr txBox="1"/>
          <p:nvPr/>
        </p:nvSpPr>
        <p:spPr>
          <a:xfrm>
            <a:off x="29498" y="719446"/>
            <a:ext cx="18229003" cy="738664"/>
          </a:xfrm>
          <a:prstGeom prst="rect">
            <a:avLst/>
          </a:prstGeom>
          <a:noFill/>
        </p:spPr>
        <p:txBody>
          <a:bodyPr wrap="square" rtlCol="0">
            <a:spAutoFit/>
          </a:bodyPr>
          <a:lstStyle/>
          <a:p>
            <a:r>
              <a:rPr lang="en-US" sz="4200" dirty="0">
                <a:solidFill>
                  <a:srgbClr val="002060"/>
                </a:solidFill>
                <a:latin typeface="Canva Sans Bold" panose="020B0604020202020204" charset="0"/>
              </a:rPr>
              <a:t>  Statistics</a:t>
            </a:r>
            <a:r>
              <a:rPr lang="en-US" dirty="0"/>
              <a:t> </a:t>
            </a:r>
            <a:endParaRPr lang="en-IN" dirty="0"/>
          </a:p>
        </p:txBody>
      </p:sp>
      <p:pic>
        <p:nvPicPr>
          <p:cNvPr id="9" name="Picture 8">
            <a:extLst>
              <a:ext uri="{FF2B5EF4-FFF2-40B4-BE49-F238E27FC236}">
                <a16:creationId xmlns:a16="http://schemas.microsoft.com/office/drawing/2014/main" id="{350EAB5D-7752-6EC4-EACE-D41CFCF06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7900" y="3268028"/>
            <a:ext cx="8636000" cy="5181600"/>
          </a:xfrm>
          <a:prstGeom prst="rect">
            <a:avLst/>
          </a:prstGeom>
        </p:spPr>
      </p:pic>
      <p:sp>
        <p:nvSpPr>
          <p:cNvPr id="12" name="TextBox 11">
            <a:extLst>
              <a:ext uri="{FF2B5EF4-FFF2-40B4-BE49-F238E27FC236}">
                <a16:creationId xmlns:a16="http://schemas.microsoft.com/office/drawing/2014/main" id="{3AF696B7-ED53-BB3F-A497-BBABF665F5A4}"/>
              </a:ext>
            </a:extLst>
          </p:cNvPr>
          <p:cNvSpPr txBox="1"/>
          <p:nvPr/>
        </p:nvSpPr>
        <p:spPr>
          <a:xfrm>
            <a:off x="609600" y="1790700"/>
            <a:ext cx="16992600" cy="1477328"/>
          </a:xfrm>
          <a:prstGeom prst="rect">
            <a:avLst/>
          </a:prstGeom>
          <a:noFill/>
        </p:spPr>
        <p:txBody>
          <a:bodyPr wrap="square" rtlCol="0">
            <a:spAutoFit/>
          </a:bodyPr>
          <a:lstStyle/>
          <a:p>
            <a:r>
              <a:rPr lang="en-US" sz="3000" dirty="0"/>
              <a:t>One of the most critical decisions in our project was choosing the right ASR engine. While OpenAI’s Whisper is a household name, recent 2025 research from </a:t>
            </a:r>
            <a:r>
              <a:rPr lang="en-US" sz="3000" b="1" dirty="0"/>
              <a:t>Al-harbi et al.</a:t>
            </a:r>
            <a:r>
              <a:rPr lang="en-US" sz="3000" dirty="0"/>
              <a:t> proves that it struggles significantly in low-resource and specialized environments. </a:t>
            </a:r>
            <a:endParaRPr lang="en-IN" sz="3000" dirty="0"/>
          </a:p>
        </p:txBody>
      </p:sp>
      <p:sp>
        <p:nvSpPr>
          <p:cNvPr id="13" name="TextBox 12">
            <a:extLst>
              <a:ext uri="{FF2B5EF4-FFF2-40B4-BE49-F238E27FC236}">
                <a16:creationId xmlns:a16="http://schemas.microsoft.com/office/drawing/2014/main" id="{9640BC63-9DC2-010D-C570-7DDA1184A109}"/>
              </a:ext>
            </a:extLst>
          </p:cNvPr>
          <p:cNvSpPr txBox="1"/>
          <p:nvPr/>
        </p:nvSpPr>
        <p:spPr>
          <a:xfrm>
            <a:off x="334297" y="8716791"/>
            <a:ext cx="17983200" cy="1477328"/>
          </a:xfrm>
          <a:prstGeom prst="rect">
            <a:avLst/>
          </a:prstGeom>
          <a:noFill/>
        </p:spPr>
        <p:txBody>
          <a:bodyPr wrap="square" rtlCol="0">
            <a:spAutoFit/>
          </a:bodyPr>
          <a:lstStyle/>
          <a:p>
            <a:r>
              <a:rPr lang="en-US" sz="3000" dirty="0"/>
              <a:t>As you can see on the screen, in head-to-head testing on the Badini Kurdish dialect which serves as our proxy for low-resource, high-complexity speech </a:t>
            </a:r>
            <a:r>
              <a:rPr lang="en-US" sz="3000" b="1" dirty="0"/>
              <a:t>Wav2Vec 2.0 (XLSR-53)</a:t>
            </a:r>
            <a:r>
              <a:rPr lang="en-US" sz="3000" dirty="0"/>
              <a:t> achieved </a:t>
            </a:r>
            <a:r>
              <a:rPr lang="en-US" sz="3000" b="1" dirty="0"/>
              <a:t>82.67% accuracy</a:t>
            </a:r>
            <a:r>
              <a:rPr lang="en-US" sz="3000" dirty="0"/>
              <a:t>, while Whisper-small lagged behind at </a:t>
            </a:r>
            <a:r>
              <a:rPr lang="en-US" sz="3000" b="1" dirty="0"/>
              <a:t>53.17%</a:t>
            </a:r>
            <a:r>
              <a:rPr lang="en-US" sz="3000" dirty="0"/>
              <a:t>. That is a </a:t>
            </a:r>
            <a:r>
              <a:rPr lang="en-US" sz="3000" b="1" dirty="0"/>
              <a:t>nearly 30% performance gap</a:t>
            </a:r>
            <a:r>
              <a:rPr lang="en-US" sz="3000" dirty="0"/>
              <a:t>.</a:t>
            </a:r>
          </a:p>
        </p:txBody>
      </p:sp>
    </p:spTree>
    <p:extLst>
      <p:ext uri="{BB962C8B-B14F-4D97-AF65-F5344CB8AC3E}">
        <p14:creationId xmlns:p14="http://schemas.microsoft.com/office/powerpoint/2010/main" val="3309728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09FBFB8A-2DB2-2DD0-80A5-2FA9D139D34E}"/>
              </a:ext>
            </a:extLst>
          </p:cNvPr>
          <p:cNvGrpSpPr/>
          <p:nvPr/>
        </p:nvGrpSpPr>
        <p:grpSpPr>
          <a:xfrm>
            <a:off x="29499" y="92881"/>
            <a:ext cx="18287998" cy="865389"/>
            <a:chOff x="0" y="0"/>
            <a:chExt cx="24383998" cy="1153852"/>
          </a:xfrm>
        </p:grpSpPr>
        <p:sp>
          <p:nvSpPr>
            <p:cNvPr id="5" name="Freeform 8">
              <a:extLst>
                <a:ext uri="{FF2B5EF4-FFF2-40B4-BE49-F238E27FC236}">
                  <a16:creationId xmlns:a16="http://schemas.microsoft.com/office/drawing/2014/main" id="{15AAF032-4F53-B562-DBB7-0AE0BAA02521}"/>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6" name="TextBox 9">
              <a:extLst>
                <a:ext uri="{FF2B5EF4-FFF2-40B4-BE49-F238E27FC236}">
                  <a16:creationId xmlns:a16="http://schemas.microsoft.com/office/drawing/2014/main" id="{F6148384-39F5-379B-D37C-C57FD21D60C9}"/>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sp>
        <p:nvSpPr>
          <p:cNvPr id="7" name="Freeform 12">
            <a:extLst>
              <a:ext uri="{FF2B5EF4-FFF2-40B4-BE49-F238E27FC236}">
                <a16:creationId xmlns:a16="http://schemas.microsoft.com/office/drawing/2014/main" id="{42AE5F3F-3D3D-C2E5-470C-5FA952FF5671}"/>
              </a:ext>
            </a:extLst>
          </p:cNvPr>
          <p:cNvSpPr/>
          <p:nvPr/>
        </p:nvSpPr>
        <p:spPr>
          <a:xfrm>
            <a:off x="0" y="636452"/>
            <a:ext cx="18288000" cy="904653"/>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8" name="TextBox 7">
            <a:extLst>
              <a:ext uri="{FF2B5EF4-FFF2-40B4-BE49-F238E27FC236}">
                <a16:creationId xmlns:a16="http://schemas.microsoft.com/office/drawing/2014/main" id="{02C4EE3B-395A-1D0B-E1E4-5E5513992C84}"/>
              </a:ext>
            </a:extLst>
          </p:cNvPr>
          <p:cNvSpPr txBox="1"/>
          <p:nvPr/>
        </p:nvSpPr>
        <p:spPr>
          <a:xfrm>
            <a:off x="29498" y="719446"/>
            <a:ext cx="18229003" cy="738664"/>
          </a:xfrm>
          <a:prstGeom prst="rect">
            <a:avLst/>
          </a:prstGeom>
          <a:noFill/>
        </p:spPr>
        <p:txBody>
          <a:bodyPr wrap="square" rtlCol="0">
            <a:spAutoFit/>
          </a:bodyPr>
          <a:lstStyle/>
          <a:p>
            <a:r>
              <a:rPr lang="en-US" sz="4200" dirty="0">
                <a:solidFill>
                  <a:srgbClr val="002060"/>
                </a:solidFill>
                <a:latin typeface="Canva Sans Bold" panose="020B0604020202020204" charset="0"/>
              </a:rPr>
              <a:t>  Statistics</a:t>
            </a:r>
            <a:r>
              <a:rPr lang="en-US" dirty="0"/>
              <a:t> </a:t>
            </a:r>
            <a:endParaRPr lang="en-IN" dirty="0"/>
          </a:p>
        </p:txBody>
      </p:sp>
      <p:sp>
        <p:nvSpPr>
          <p:cNvPr id="10" name="TextBox 9">
            <a:extLst>
              <a:ext uri="{FF2B5EF4-FFF2-40B4-BE49-F238E27FC236}">
                <a16:creationId xmlns:a16="http://schemas.microsoft.com/office/drawing/2014/main" id="{180B469E-D3E9-333B-5B67-5D714DC1163F}"/>
              </a:ext>
            </a:extLst>
          </p:cNvPr>
          <p:cNvSpPr txBox="1"/>
          <p:nvPr/>
        </p:nvSpPr>
        <p:spPr>
          <a:xfrm>
            <a:off x="609600" y="1790700"/>
            <a:ext cx="16992600" cy="1077218"/>
          </a:xfrm>
          <a:prstGeom prst="rect">
            <a:avLst/>
          </a:prstGeom>
          <a:noFill/>
        </p:spPr>
        <p:txBody>
          <a:bodyPr wrap="square" rtlCol="0">
            <a:spAutoFit/>
          </a:bodyPr>
          <a:lstStyle/>
          <a:p>
            <a:r>
              <a:rPr lang="en-US" sz="3200" dirty="0"/>
              <a:t>To understand </a:t>
            </a:r>
            <a:r>
              <a:rPr lang="en-US" sz="3200" i="1" dirty="0"/>
              <a:t>why</a:t>
            </a:r>
            <a:r>
              <a:rPr lang="en-US" sz="3200" dirty="0"/>
              <a:t> we chose this model, we have to look at the level of the errors. we are looking errors among the characters and phonemes.</a:t>
            </a:r>
            <a:endParaRPr lang="en-IN" sz="3000" dirty="0"/>
          </a:p>
        </p:txBody>
      </p:sp>
      <p:sp>
        <p:nvSpPr>
          <p:cNvPr id="11" name="TextBox 10">
            <a:extLst>
              <a:ext uri="{FF2B5EF4-FFF2-40B4-BE49-F238E27FC236}">
                <a16:creationId xmlns:a16="http://schemas.microsoft.com/office/drawing/2014/main" id="{9400C4D5-BCFE-D454-764B-487A9E558AEC}"/>
              </a:ext>
            </a:extLst>
          </p:cNvPr>
          <p:cNvSpPr txBox="1"/>
          <p:nvPr/>
        </p:nvSpPr>
        <p:spPr>
          <a:xfrm>
            <a:off x="334297" y="8716791"/>
            <a:ext cx="17983200" cy="1569660"/>
          </a:xfrm>
          <a:prstGeom prst="rect">
            <a:avLst/>
          </a:prstGeom>
          <a:noFill/>
        </p:spPr>
        <p:txBody>
          <a:bodyPr wrap="square" rtlCol="0">
            <a:spAutoFit/>
          </a:bodyPr>
          <a:lstStyle/>
          <a:p>
            <a:r>
              <a:rPr lang="en-US" sz="3200" dirty="0"/>
              <a:t>Looking at the </a:t>
            </a:r>
            <a:r>
              <a:rPr lang="en-US" sz="3200" b="1" dirty="0"/>
              <a:t>Character Error Rate (CER)</a:t>
            </a:r>
            <a:r>
              <a:rPr lang="en-US" sz="3200" dirty="0"/>
              <a:t>, Wav2Vec 2.0 achieved a remarkable </a:t>
            </a:r>
            <a:r>
              <a:rPr lang="en-US" sz="3200" b="1" dirty="0"/>
              <a:t>9.58%</a:t>
            </a:r>
            <a:r>
              <a:rPr lang="en-US" sz="3200" dirty="0"/>
              <a:t>, whereas Whisper was over 15%. In a closed-loop system, a low CER is vital. It means even when the model gets a word wrong, it is phonetically 'close' to the truth.</a:t>
            </a:r>
            <a:endParaRPr lang="en-US" sz="3000" dirty="0"/>
          </a:p>
        </p:txBody>
      </p:sp>
      <p:pic>
        <p:nvPicPr>
          <p:cNvPr id="13" name="Picture 12">
            <a:extLst>
              <a:ext uri="{FF2B5EF4-FFF2-40B4-BE49-F238E27FC236}">
                <a16:creationId xmlns:a16="http://schemas.microsoft.com/office/drawing/2014/main" id="{0C64AC0D-5A09-35F8-66C3-8241876EA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673" y="3089159"/>
            <a:ext cx="9010651" cy="5406391"/>
          </a:xfrm>
          <a:prstGeom prst="rect">
            <a:avLst/>
          </a:prstGeom>
        </p:spPr>
      </p:pic>
    </p:spTree>
    <p:extLst>
      <p:ext uri="{BB962C8B-B14F-4D97-AF65-F5344CB8AC3E}">
        <p14:creationId xmlns:p14="http://schemas.microsoft.com/office/powerpoint/2010/main" val="120637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32695"/>
            <a:ext cx="18288000" cy="644180"/>
            <a:chOff x="0" y="0"/>
            <a:chExt cx="24384000" cy="858907"/>
          </a:xfrm>
        </p:grpSpPr>
        <p:sp>
          <p:nvSpPr>
            <p:cNvPr id="8" name="Freeform 8"/>
            <p:cNvSpPr/>
            <p:nvPr/>
          </p:nvSpPr>
          <p:spPr>
            <a:xfrm>
              <a:off x="0" y="0"/>
              <a:ext cx="24384000" cy="858861"/>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0" y="28575"/>
              <a:ext cx="24384000" cy="830332"/>
            </a:xfrm>
            <a:prstGeom prst="rect">
              <a:avLst/>
            </a:prstGeom>
          </p:spPr>
          <p:txBody>
            <a:bodyPr lIns="50800" tIns="50800" rIns="50800" bIns="50800" rtlCol="0" anchor="t"/>
            <a:lstStyle/>
            <a:p>
              <a:pPr algn="l">
                <a:lnSpc>
                  <a:spcPts val="3024"/>
                </a:lnSpc>
              </a:pPr>
              <a:r>
                <a:rPr lang="en-US" sz="2800" b="1">
                  <a:solidFill>
                    <a:srgbClr val="114B79"/>
                  </a:solidFill>
                  <a:latin typeface="Canva Sans Bold"/>
                  <a:ea typeface="Canva Sans Bold"/>
                  <a:cs typeface="Canva Sans Bold"/>
                  <a:sym typeface="Canva Sans Bold"/>
                </a:rPr>
                <a:t>Data sources</a:t>
              </a: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2" name="TextBox 1">
            <a:extLst>
              <a:ext uri="{FF2B5EF4-FFF2-40B4-BE49-F238E27FC236}">
                <a16:creationId xmlns:a16="http://schemas.microsoft.com/office/drawing/2014/main" id="{2527193E-771F-FAEF-77D6-83CFCECC79B6}"/>
              </a:ext>
            </a:extLst>
          </p:cNvPr>
          <p:cNvSpPr txBox="1"/>
          <p:nvPr/>
        </p:nvSpPr>
        <p:spPr>
          <a:xfrm>
            <a:off x="838200" y="1943100"/>
            <a:ext cx="10820400" cy="553998"/>
          </a:xfrm>
          <a:prstGeom prst="rect">
            <a:avLst/>
          </a:prstGeom>
          <a:noFill/>
        </p:spPr>
        <p:txBody>
          <a:bodyPr wrap="square" rtlCol="0">
            <a:spAutoFit/>
          </a:bodyPr>
          <a:lstStyle/>
          <a:p>
            <a:pPr marL="285750" indent="-285750">
              <a:buFont typeface="Arial" panose="020B0604020202020204" pitchFamily="34" charset="0"/>
              <a:buChar char="•"/>
            </a:pPr>
            <a:endParaRPr lang="en-IN" sz="3000" dirty="0"/>
          </a:p>
        </p:txBody>
      </p:sp>
      <p:sp>
        <p:nvSpPr>
          <p:cNvPr id="6" name="Rectangle 1">
            <a:extLst>
              <a:ext uri="{FF2B5EF4-FFF2-40B4-BE49-F238E27FC236}">
                <a16:creationId xmlns:a16="http://schemas.microsoft.com/office/drawing/2014/main" id="{7A62C80D-EF22-61C3-7765-AA5D3FDF81AA}"/>
              </a:ext>
            </a:extLst>
          </p:cNvPr>
          <p:cNvSpPr>
            <a:spLocks noChangeArrowheads="1"/>
          </p:cNvSpPr>
          <p:nvPr/>
        </p:nvSpPr>
        <p:spPr bwMode="auto">
          <a:xfrm>
            <a:off x="228600" y="1089893"/>
            <a:ext cx="1836420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err="1">
                <a:ln>
                  <a:noFill/>
                </a:ln>
                <a:solidFill>
                  <a:schemeClr val="tx1"/>
                </a:solidFill>
                <a:effectLst/>
                <a:latin typeface="+mj-lt"/>
              </a:rPr>
              <a:t>LibriSpeech</a:t>
            </a:r>
            <a:r>
              <a:rPr kumimoji="0" lang="en-US" altLang="en-US" sz="3000" b="1" i="0" u="none" strike="noStrike" cap="none" normalizeH="0" baseline="0" dirty="0">
                <a:ln>
                  <a:noFill/>
                </a:ln>
                <a:solidFill>
                  <a:schemeClr val="tx1"/>
                </a:solidFill>
                <a:effectLst/>
                <a:latin typeface="+mj-lt"/>
              </a:rPr>
              <a:t> Dataset:</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Used as clean, high-quality speech data for baseline ASR model training and performance benchmarking.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Mozilla Common Voice:</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Provides diverse, real-world speech recordings with multiple accents and noisy environments for robustness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VCTK Corpus:</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Utilized for modeling regional accents and speaker variability required for synthetic speech generation.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Multilingual </a:t>
            </a:r>
            <a:r>
              <a:rPr kumimoji="0" lang="en-US" altLang="en-US" sz="3000" b="1" i="0" u="none" strike="noStrike" cap="none" normalizeH="0" baseline="0" dirty="0" err="1">
                <a:ln>
                  <a:noFill/>
                </a:ln>
                <a:solidFill>
                  <a:schemeClr val="tx1"/>
                </a:solidFill>
                <a:effectLst/>
                <a:latin typeface="+mj-lt"/>
              </a:rPr>
              <a:t>LibriSpeech</a:t>
            </a:r>
            <a:r>
              <a:rPr kumimoji="0" lang="en-US" altLang="en-US" sz="3000" b="1" i="0" u="none" strike="noStrike" cap="none" normalizeH="0" baseline="0" dirty="0">
                <a:ln>
                  <a:noFill/>
                </a:ln>
                <a:solidFill>
                  <a:schemeClr val="tx1"/>
                </a:solidFill>
                <a:effectLst/>
                <a:latin typeface="+mj-lt"/>
              </a:rPr>
              <a:t> (MLS):</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Supports multilingual and cross-accent training to improve generalization capability of the ASR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mj-lt"/>
              </a:rPr>
              <a:t>LibriVox Audio Data:</a:t>
            </a:r>
            <a:r>
              <a:rPr lang="en-US" altLang="en-US" sz="3000" dirty="0">
                <a:latin typeface="+mj-lt"/>
              </a:rPr>
              <a:t> </a:t>
            </a:r>
            <a:r>
              <a:rPr kumimoji="0" lang="en-US" altLang="en-US" sz="3000" b="0" i="0" u="none" strike="noStrike" cap="none" normalizeH="0" baseline="0" dirty="0">
                <a:ln>
                  <a:noFill/>
                </a:ln>
                <a:solidFill>
                  <a:schemeClr val="tx1"/>
                </a:solidFill>
                <a:effectLst/>
                <a:latin typeface="+mj-lt"/>
              </a:rPr>
              <a:t>Serves as a large-scale raw speech source offering phonetic diversity for synthetic augmentation and experimentation.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4C568CFA-507F-80E8-8E14-B6DA75CD638D}"/>
              </a:ext>
            </a:extLst>
          </p:cNvPr>
          <p:cNvGrpSpPr/>
          <p:nvPr/>
        </p:nvGrpSpPr>
        <p:grpSpPr>
          <a:xfrm>
            <a:off x="29499" y="92881"/>
            <a:ext cx="18287998" cy="865389"/>
            <a:chOff x="0" y="0"/>
            <a:chExt cx="24383998" cy="1153852"/>
          </a:xfrm>
        </p:grpSpPr>
        <p:sp>
          <p:nvSpPr>
            <p:cNvPr id="3" name="Freeform 8">
              <a:extLst>
                <a:ext uri="{FF2B5EF4-FFF2-40B4-BE49-F238E27FC236}">
                  <a16:creationId xmlns:a16="http://schemas.microsoft.com/office/drawing/2014/main" id="{EAEFFCFE-C1E1-7540-FF1B-2A56FAD0963B}"/>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4" name="TextBox 9">
              <a:extLst>
                <a:ext uri="{FF2B5EF4-FFF2-40B4-BE49-F238E27FC236}">
                  <a16:creationId xmlns:a16="http://schemas.microsoft.com/office/drawing/2014/main" id="{74CC8B9E-0C40-5A2D-3419-1C8D4F539AA0}"/>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sp>
        <p:nvSpPr>
          <p:cNvPr id="5" name="Freeform 12">
            <a:extLst>
              <a:ext uri="{FF2B5EF4-FFF2-40B4-BE49-F238E27FC236}">
                <a16:creationId xmlns:a16="http://schemas.microsoft.com/office/drawing/2014/main" id="{414E87B7-13DC-44E0-8019-5FFF0D49AA20}"/>
              </a:ext>
            </a:extLst>
          </p:cNvPr>
          <p:cNvSpPr/>
          <p:nvPr/>
        </p:nvSpPr>
        <p:spPr>
          <a:xfrm>
            <a:off x="0" y="636452"/>
            <a:ext cx="18288000" cy="904653"/>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6" name="TextBox 5">
            <a:extLst>
              <a:ext uri="{FF2B5EF4-FFF2-40B4-BE49-F238E27FC236}">
                <a16:creationId xmlns:a16="http://schemas.microsoft.com/office/drawing/2014/main" id="{AE1F2E7A-24B1-5C86-D6F9-4C140D0A630F}"/>
              </a:ext>
            </a:extLst>
          </p:cNvPr>
          <p:cNvSpPr txBox="1"/>
          <p:nvPr/>
        </p:nvSpPr>
        <p:spPr>
          <a:xfrm>
            <a:off x="29498" y="719446"/>
            <a:ext cx="18229003" cy="738664"/>
          </a:xfrm>
          <a:prstGeom prst="rect">
            <a:avLst/>
          </a:prstGeom>
          <a:noFill/>
        </p:spPr>
        <p:txBody>
          <a:bodyPr wrap="square" rtlCol="0">
            <a:spAutoFit/>
          </a:bodyPr>
          <a:lstStyle/>
          <a:p>
            <a:r>
              <a:rPr lang="en-US" sz="4200" dirty="0">
                <a:solidFill>
                  <a:srgbClr val="002060"/>
                </a:solidFill>
                <a:latin typeface="Canva Sans Bold" panose="020B0604020202020204" charset="0"/>
              </a:rPr>
              <a:t>  Frontend Example</a:t>
            </a:r>
            <a:r>
              <a:rPr lang="en-US" dirty="0"/>
              <a:t> </a:t>
            </a:r>
            <a:endParaRPr lang="en-IN" dirty="0"/>
          </a:p>
        </p:txBody>
      </p:sp>
      <p:pic>
        <p:nvPicPr>
          <p:cNvPr id="8" name="Picture 7">
            <a:extLst>
              <a:ext uri="{FF2B5EF4-FFF2-40B4-BE49-F238E27FC236}">
                <a16:creationId xmlns:a16="http://schemas.microsoft.com/office/drawing/2014/main" id="{3652367F-C632-3999-7094-56F715C225DB}"/>
              </a:ext>
            </a:extLst>
          </p:cNvPr>
          <p:cNvPicPr>
            <a:picLocks noChangeAspect="1"/>
          </p:cNvPicPr>
          <p:nvPr/>
        </p:nvPicPr>
        <p:blipFill>
          <a:blip r:embed="rId2"/>
          <a:stretch>
            <a:fillRect/>
          </a:stretch>
        </p:blipFill>
        <p:spPr>
          <a:xfrm>
            <a:off x="9173498" y="3390900"/>
            <a:ext cx="8951679" cy="6057372"/>
          </a:xfrm>
          <a:prstGeom prst="rect">
            <a:avLst/>
          </a:prstGeom>
        </p:spPr>
      </p:pic>
      <p:pic>
        <p:nvPicPr>
          <p:cNvPr id="11" name="Picture 10">
            <a:extLst>
              <a:ext uri="{FF2B5EF4-FFF2-40B4-BE49-F238E27FC236}">
                <a16:creationId xmlns:a16="http://schemas.microsoft.com/office/drawing/2014/main" id="{41EE26F1-13B0-5C83-AAE3-69BA1495B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98" y="3390900"/>
            <a:ext cx="8965462" cy="6057372"/>
          </a:xfrm>
          <a:prstGeom prst="rect">
            <a:avLst/>
          </a:prstGeom>
        </p:spPr>
      </p:pic>
    </p:spTree>
    <p:extLst>
      <p:ext uri="{BB962C8B-B14F-4D97-AF65-F5344CB8AC3E}">
        <p14:creationId xmlns:p14="http://schemas.microsoft.com/office/powerpoint/2010/main" val="161587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54126"/>
            <a:ext cx="18288000" cy="668391"/>
            <a:chOff x="0" y="28575"/>
            <a:chExt cx="24384000" cy="891188"/>
          </a:xfrm>
        </p:grpSpPr>
        <p:sp>
          <p:nvSpPr>
            <p:cNvPr id="8" name="Freeform 8"/>
            <p:cNvSpPr/>
            <p:nvPr/>
          </p:nvSpPr>
          <p:spPr>
            <a:xfrm>
              <a:off x="0" y="60901"/>
              <a:ext cx="24384000" cy="858862"/>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0" y="28575"/>
              <a:ext cx="24384000" cy="830332"/>
            </a:xfrm>
            <a:prstGeom prst="rect">
              <a:avLst/>
            </a:prstGeom>
          </p:spPr>
          <p:txBody>
            <a:bodyPr lIns="50800" tIns="50800" rIns="50800" bIns="50800" rtlCol="0" anchor="t"/>
            <a:lstStyle/>
            <a:p>
              <a:pPr algn="l">
                <a:lnSpc>
                  <a:spcPts val="3024"/>
                </a:lnSpc>
              </a:pPr>
              <a:r>
                <a:rPr lang="en-US" sz="2800" b="1" dirty="0">
                  <a:solidFill>
                    <a:srgbClr val="114B79"/>
                  </a:solidFill>
                  <a:latin typeface="Canva Sans Bold"/>
                  <a:ea typeface="Canva Sans Bold"/>
                  <a:cs typeface="Canva Sans Bold"/>
                  <a:sym typeface="Canva Sans Bold"/>
                </a:rPr>
                <a:t>References </a:t>
              </a: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graphicFrame>
        <p:nvGraphicFramePr>
          <p:cNvPr id="10" name="Table 12"/>
          <p:cNvGraphicFramePr>
            <a:graphicFrameLocks noGrp="1"/>
          </p:cNvGraphicFramePr>
          <p:nvPr>
            <p:extLst>
              <p:ext uri="{D42A27DB-BD31-4B8C-83A1-F6EECF244321}">
                <p14:modId xmlns:p14="http://schemas.microsoft.com/office/powerpoint/2010/main" val="2390752817"/>
              </p:ext>
            </p:extLst>
          </p:nvPr>
        </p:nvGraphicFramePr>
        <p:xfrm>
          <a:off x="551247" y="1028700"/>
          <a:ext cx="16708055" cy="9258299"/>
        </p:xfrm>
        <a:graphic>
          <a:graphicData uri="http://schemas.openxmlformats.org/drawingml/2006/table">
            <a:tbl>
              <a:tblPr/>
              <a:tblGrid>
                <a:gridCol w="5791179">
                  <a:extLst>
                    <a:ext uri="{9D8B030D-6E8A-4147-A177-3AD203B41FA5}">
                      <a16:colId xmlns:a16="http://schemas.microsoft.com/office/drawing/2014/main" val="20000"/>
                    </a:ext>
                  </a:extLst>
                </a:gridCol>
                <a:gridCol w="5849575">
                  <a:extLst>
                    <a:ext uri="{9D8B030D-6E8A-4147-A177-3AD203B41FA5}">
                      <a16:colId xmlns:a16="http://schemas.microsoft.com/office/drawing/2014/main" val="20001"/>
                    </a:ext>
                  </a:extLst>
                </a:gridCol>
                <a:gridCol w="5067301">
                  <a:extLst>
                    <a:ext uri="{9D8B030D-6E8A-4147-A177-3AD203B41FA5}">
                      <a16:colId xmlns:a16="http://schemas.microsoft.com/office/drawing/2014/main" val="20002"/>
                    </a:ext>
                  </a:extLst>
                </a:gridCol>
              </a:tblGrid>
              <a:tr h="778901">
                <a:tc>
                  <a:txBody>
                    <a:bodyPr/>
                    <a:lstStyle/>
                    <a:p>
                      <a:pPr algn="ctr">
                        <a:lnSpc>
                          <a:spcPts val="949"/>
                        </a:lnSpc>
                        <a:defRPr/>
                      </a:pPr>
                      <a:r>
                        <a:rPr lang="en-US" sz="2000" u="none" strike="noStrike" dirty="0">
                          <a:solidFill>
                            <a:srgbClr val="000000"/>
                          </a:solidFill>
                          <a:latin typeface="+mj-lt"/>
                          <a:ea typeface="Canva Sans"/>
                          <a:cs typeface="Canva Sans"/>
                          <a:sym typeface="Canva Sans"/>
                        </a:rPr>
                        <a:t>Paper Name</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u="none" strike="noStrike">
                          <a:solidFill>
                            <a:srgbClr val="000000"/>
                          </a:solidFill>
                          <a:latin typeface="+mj-lt"/>
                          <a:ea typeface="Canva Sans"/>
                          <a:cs typeface="Canva Sans"/>
                          <a:sym typeface="Canva Sans"/>
                        </a:rPr>
                        <a:t>Author(s)</a:t>
                      </a:r>
                      <a:endParaRPr lang="en-US" sz="200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u="none" strike="noStrike" dirty="0">
                          <a:solidFill>
                            <a:srgbClr val="000000"/>
                          </a:solidFill>
                          <a:latin typeface="+mj-lt"/>
                          <a:ea typeface="Canva Sans"/>
                          <a:cs typeface="Canva Sans"/>
                          <a:sym typeface="Canva Sans"/>
                        </a:rPr>
                        <a:t>Journal/Publication Source</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33886">
                <a:tc>
                  <a:txBody>
                    <a:bodyPr/>
                    <a:lstStyle/>
                    <a:p>
                      <a:pPr algn="ctr">
                        <a:buNone/>
                      </a:pPr>
                      <a:r>
                        <a:rPr lang="en-US" sz="2000" i="1" dirty="0">
                          <a:latin typeface="+mj-lt"/>
                        </a:rPr>
                        <a:t>wav2vec 2.0: A Framework for Self-Supervised Learning of Speech Representations</a:t>
                      </a:r>
                      <a:endParaRPr lang="en-US" sz="2000" dirty="0">
                        <a:latin typeface="+mj-lt"/>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IN" sz="2000" dirty="0">
                          <a:latin typeface="+mj-lt"/>
                        </a:rPr>
                        <a:t>Alexei </a:t>
                      </a:r>
                      <a:r>
                        <a:rPr lang="en-IN" sz="2000" dirty="0" err="1">
                          <a:latin typeface="+mj-lt"/>
                        </a:rPr>
                        <a:t>Baevski</a:t>
                      </a:r>
                      <a:r>
                        <a:rPr lang="en-IN" sz="2000" dirty="0">
                          <a:latin typeface="+mj-lt"/>
                        </a:rPr>
                        <a:t>, Henry Zhou, Abdelrahman Mohamed, Michael Auli</a:t>
                      </a:r>
                      <a:endParaRPr lang="en-US" sz="2000" dirty="0">
                        <a:latin typeface="+mj-lt"/>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IN" sz="2000" dirty="0"/>
                        <a:t>Neural Information Processing Systems (</a:t>
                      </a:r>
                      <a:r>
                        <a:rPr lang="en-IN" sz="2000" dirty="0" err="1"/>
                        <a:t>NeurIPS</a:t>
                      </a:r>
                      <a:r>
                        <a:rPr lang="en-IN" sz="2000" dirty="0"/>
                        <a:t>), 2020</a:t>
                      </a:r>
                      <a:endParaRPr lang="en-US" sz="2000" dirty="0">
                        <a:latin typeface="+mj-lt"/>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33886">
                <a:tc>
                  <a:txBody>
                    <a:bodyPr/>
                    <a:lstStyle/>
                    <a:p>
                      <a:pPr algn="ctr">
                        <a:lnSpc>
                          <a:spcPts val="2800"/>
                        </a:lnSpc>
                        <a:defRPr/>
                      </a:pPr>
                      <a:r>
                        <a:rPr lang="en-US" sz="2000" dirty="0"/>
                        <a:t>XTTS: A Massively Multilingual Zero-Shot Text-to-Speech Model</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buNone/>
                      </a:pPr>
                      <a:r>
                        <a:rPr lang="en-IN" sz="2000" dirty="0"/>
                        <a:t>Eduardo Casanova, Christopher </a:t>
                      </a:r>
                      <a:r>
                        <a:rPr lang="en-IN" sz="2000" dirty="0" err="1"/>
                        <a:t>Shulby</a:t>
                      </a:r>
                      <a:r>
                        <a:rPr lang="en-IN" sz="2000" dirty="0"/>
                        <a:t>, Arnaldo Candido Jr., et al.</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IN" sz="2000" dirty="0" err="1"/>
                        <a:t>arXiv</a:t>
                      </a:r>
                      <a:r>
                        <a:rPr lang="en-IN" sz="2000" dirty="0"/>
                        <a:t> Preprint, 2024</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3886">
                <a:tc>
                  <a:txBody>
                    <a:bodyPr/>
                    <a:lstStyle/>
                    <a:p>
                      <a:pPr algn="ctr">
                        <a:lnSpc>
                          <a:spcPts val="2800"/>
                        </a:lnSpc>
                        <a:defRPr/>
                      </a:pPr>
                      <a:r>
                        <a:rPr lang="en-US" sz="2000" dirty="0"/>
                        <a:t>Style Tokens: Unsupervised Style Modeling, Control and Transfer in End-to-End Speech Synthesis</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IN" sz="2000" dirty="0"/>
                        <a:t>Yuxuan Wang, Daisy Stanton, Yu Zhang, et al.</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t>Google Research / ICML Workshop, 2018</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88870">
                <a:tc>
                  <a:txBody>
                    <a:bodyPr/>
                    <a:lstStyle/>
                    <a:p>
                      <a:pPr algn="ctr">
                        <a:lnSpc>
                          <a:spcPts val="2800"/>
                        </a:lnSpc>
                        <a:defRPr/>
                      </a:pPr>
                      <a:r>
                        <a:rPr lang="en-US" sz="2000" dirty="0"/>
                        <a:t>Generating Synthetic Audio Data for Attention-Based Speech Recognition Systems</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520"/>
                        </a:lnSpc>
                        <a:defRPr/>
                      </a:pPr>
                      <a:r>
                        <a:rPr lang="de-DE" sz="2000" dirty="0"/>
                        <a:t>Nick Rossenbach, Ralf Schluter, Hermann Ney</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IN" sz="2000" dirty="0"/>
                        <a:t>INTERSPEECH Conference, 2020</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88870">
                <a:tc>
                  <a:txBody>
                    <a:bodyPr/>
                    <a:lstStyle/>
                    <a:p>
                      <a:pPr algn="ctr">
                        <a:lnSpc>
                          <a:spcPts val="2800"/>
                        </a:lnSpc>
                        <a:defRPr/>
                      </a:pPr>
                      <a:r>
                        <a:rPr lang="en-US" sz="2000" dirty="0"/>
                        <a:t>Unsupervised Cross-Lingual Representation Learning for Speech Recognition</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fr-FR" sz="2000" dirty="0"/>
                        <a:t>Alexis Conneau, </a:t>
                      </a:r>
                      <a:r>
                        <a:rPr lang="fr-FR" sz="2000" dirty="0" err="1"/>
                        <a:t>Alexei</a:t>
                      </a:r>
                      <a:r>
                        <a:rPr lang="fr-FR" sz="2000" dirty="0"/>
                        <a:t> </a:t>
                      </a:r>
                      <a:r>
                        <a:rPr lang="fr-FR" sz="2000" dirty="0" err="1"/>
                        <a:t>Baevski</a:t>
                      </a:r>
                      <a:r>
                        <a:rPr lang="fr-FR" sz="2000" dirty="0"/>
                        <a:t>, Ronan Collobert, et al.</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IN" sz="2000" dirty="0" err="1"/>
                        <a:t>arXiv</a:t>
                      </a:r>
                      <a:r>
                        <a:rPr lang="en-IN" sz="2000" dirty="0"/>
                        <a:t> Preprint, 2020</a:t>
                      </a:r>
                      <a:endParaRPr lang="en-US" sz="2000" dirty="0">
                        <a:latin typeface="+mj-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3466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32695"/>
            <a:ext cx="18288000" cy="644180"/>
            <a:chOff x="0" y="0"/>
            <a:chExt cx="24384000" cy="858907"/>
          </a:xfrm>
        </p:grpSpPr>
        <p:sp>
          <p:nvSpPr>
            <p:cNvPr id="8" name="Freeform 8"/>
            <p:cNvSpPr/>
            <p:nvPr/>
          </p:nvSpPr>
          <p:spPr>
            <a:xfrm>
              <a:off x="0" y="0"/>
              <a:ext cx="24384000" cy="858861"/>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0" y="28575"/>
              <a:ext cx="24384000" cy="830332"/>
            </a:xfrm>
            <a:prstGeom prst="rect">
              <a:avLst/>
            </a:prstGeom>
          </p:spPr>
          <p:txBody>
            <a:bodyPr lIns="50800" tIns="50800" rIns="50800" bIns="50800" rtlCol="0" anchor="t"/>
            <a:lstStyle/>
            <a:p>
              <a:pPr algn="l">
                <a:lnSpc>
                  <a:spcPts val="3024"/>
                </a:lnSpc>
              </a:pPr>
              <a:r>
                <a:rPr lang="en-US" sz="2800" b="1" dirty="0">
                  <a:solidFill>
                    <a:srgbClr val="114B79"/>
                  </a:solidFill>
                  <a:latin typeface="Canva Sans Bold"/>
                  <a:ea typeface="Canva Sans Bold"/>
                  <a:cs typeface="Canva Sans Bold"/>
                  <a:sym typeface="Canva Sans Bold"/>
                </a:rPr>
                <a:t>Conclusion</a:t>
              </a: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2" name="TextBox 1">
            <a:extLst>
              <a:ext uri="{FF2B5EF4-FFF2-40B4-BE49-F238E27FC236}">
                <a16:creationId xmlns:a16="http://schemas.microsoft.com/office/drawing/2014/main" id="{53BB0E1A-263B-07BD-5D6F-0FB75A89C750}"/>
              </a:ext>
            </a:extLst>
          </p:cNvPr>
          <p:cNvSpPr txBox="1"/>
          <p:nvPr/>
        </p:nvSpPr>
        <p:spPr>
          <a:xfrm>
            <a:off x="762000" y="2019300"/>
            <a:ext cx="17221200" cy="3046988"/>
          </a:xfrm>
          <a:prstGeom prst="rect">
            <a:avLst/>
          </a:prstGeom>
          <a:noFill/>
        </p:spPr>
        <p:txBody>
          <a:bodyPr wrap="square" rtlCol="0">
            <a:spAutoFit/>
          </a:bodyPr>
          <a:lstStyle/>
          <a:p>
            <a:r>
              <a:rPr lang="en-US" sz="3200" dirty="0"/>
              <a:t>ADAPT-</a:t>
            </a:r>
            <a:r>
              <a:rPr lang="en-US" sz="3200" dirty="0" err="1"/>
              <a:t>Synthetix</a:t>
            </a:r>
            <a:r>
              <a:rPr lang="en-US" sz="3200" dirty="0"/>
              <a:t> proposes a closed-loop, error-adaptive framework aimed at improving the reliability of Automatic Speech Recognition systems in real-world environments. By automatically identifying transcription errors and generating targeted synthetic speech data, the system enables continuous model improvement without extensive manual intervention. The proposed approach enhances robustness against noise, accent variation, and environmental distortions, making ASR systems more accurate, scalable, and suitable for practical safety-critical applications.</a:t>
            </a:r>
            <a:endParaRPr lang="en-IN" sz="3000" dirty="0"/>
          </a:p>
        </p:txBody>
      </p:sp>
    </p:spTree>
    <p:extLst>
      <p:ext uri="{BB962C8B-B14F-4D97-AF65-F5344CB8AC3E}">
        <p14:creationId xmlns:p14="http://schemas.microsoft.com/office/powerpoint/2010/main" val="3614386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6927" y="4711755"/>
            <a:ext cx="18288000" cy="644180"/>
            <a:chOff x="0" y="0"/>
            <a:chExt cx="24384000" cy="858907"/>
          </a:xfrm>
        </p:grpSpPr>
        <p:sp>
          <p:nvSpPr>
            <p:cNvPr id="8" name="Freeform 8"/>
            <p:cNvSpPr/>
            <p:nvPr/>
          </p:nvSpPr>
          <p:spPr>
            <a:xfrm>
              <a:off x="0" y="0"/>
              <a:ext cx="24384000" cy="858861"/>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0" y="28575"/>
              <a:ext cx="24384000" cy="830332"/>
            </a:xfrm>
            <a:prstGeom prst="rect">
              <a:avLst/>
            </a:prstGeom>
          </p:spPr>
          <p:txBody>
            <a:bodyPr lIns="50800" tIns="50800" rIns="50800" bIns="50800" rtlCol="0" anchor="t"/>
            <a:lstStyle/>
            <a:p>
              <a:pPr algn="l">
                <a:lnSpc>
                  <a:spcPts val="3024"/>
                </a:lnSpc>
              </a:pPr>
              <a:r>
                <a:rPr lang="en-US" sz="2800" b="1" dirty="0">
                  <a:solidFill>
                    <a:srgbClr val="114B79"/>
                  </a:solidFill>
                  <a:latin typeface="Canva Sans Bold"/>
                  <a:ea typeface="Canva Sans Bold"/>
                  <a:cs typeface="Canva Sans Bold"/>
                  <a:sym typeface="Canva Sans Bold"/>
                </a:rPr>
                <a:t>                                                                                               THANK YOU !!</a:t>
              </a:r>
            </a:p>
          </p:txBody>
        </p:sp>
      </p:grpSp>
      <p:sp>
        <p:nvSpPr>
          <p:cNvPr id="15" name="Freeform 15"/>
          <p:cNvSpPr/>
          <p:nvPr/>
        </p:nvSpPr>
        <p:spPr>
          <a:xfrm>
            <a:off x="17259300" y="9258300"/>
            <a:ext cx="972325" cy="850783"/>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1706453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TotalTime>
  <Words>1394</Words>
  <Application>Microsoft Office PowerPoint</Application>
  <PresentationFormat>Custom</PresentationFormat>
  <Paragraphs>167</Paragraphs>
  <Slides>17</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Canva Sans</vt:lpstr>
      <vt:lpstr>Canva Sans Bold</vt:lpstr>
      <vt:lpstr>Canva Sans Italics</vt:lpstr>
      <vt:lpstr>Arial</vt:lpstr>
      <vt:lpstr>Calibri</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IPD PRESENTATION.pptx</dc:title>
  <cp:lastModifiedBy>Viraj Sanghavi</cp:lastModifiedBy>
  <cp:revision>32</cp:revision>
  <dcterms:created xsi:type="dcterms:W3CDTF">2006-08-16T00:00:00Z</dcterms:created>
  <dcterms:modified xsi:type="dcterms:W3CDTF">2026-03-23T01:27:25Z</dcterms:modified>
  <dc:identifier>DAGXpcWllHM</dc:identifier>
</cp:coreProperties>
</file>